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70" r:id="rId3"/>
    <p:sldId id="257" r:id="rId4"/>
    <p:sldId id="258" r:id="rId5"/>
    <p:sldId id="271" r:id="rId6"/>
    <p:sldId id="259" r:id="rId7"/>
    <p:sldId id="260" r:id="rId8"/>
    <p:sldId id="261" r:id="rId9"/>
    <p:sldId id="267" r:id="rId10"/>
    <p:sldId id="272" r:id="rId11"/>
    <p:sldId id="262" r:id="rId12"/>
    <p:sldId id="263" r:id="rId13"/>
    <p:sldId id="269" r:id="rId14"/>
    <p:sldId id="268" r:id="rId15"/>
    <p:sldId id="273" r:id="rId16"/>
    <p:sldId id="264" r:id="rId17"/>
    <p:sldId id="266" r:id="rId1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7F0058D-1497-994D-826D-04EBDB671F23}" v="3" dt="2026-09-13T20:01:31.18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6301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rcel Ronner" userId="74d139208260a0a6" providerId="LiveId" clId="{3A5E0FFD-BC2E-5510-9690-1F5A8D6E4E93}"/>
    <pc:docChg chg="custSel modSld sldOrd">
      <pc:chgData name="Marcel Ronner" userId="74d139208260a0a6" providerId="LiveId" clId="{3A5E0FFD-BC2E-5510-9690-1F5A8D6E4E93}" dt="2026-09-13T20:06:28.531" v="210" actId="1076"/>
      <pc:docMkLst>
        <pc:docMk/>
      </pc:docMkLst>
      <pc:sldChg chg="addSp delSp modSp mod">
        <pc:chgData name="Marcel Ronner" userId="74d139208260a0a6" providerId="LiveId" clId="{3A5E0FFD-BC2E-5510-9690-1F5A8D6E4E93}" dt="2026-09-13T20:01:31.179" v="179"/>
        <pc:sldMkLst>
          <pc:docMk/>
          <pc:sldMk cId="0" sldId="256"/>
        </pc:sldMkLst>
        <pc:spChg chg="del mod">
          <ac:chgData name="Marcel Ronner" userId="74d139208260a0a6" providerId="LiveId" clId="{3A5E0FFD-BC2E-5510-9690-1F5A8D6E4E93}" dt="2026-09-13T20:01:30.302" v="178" actId="478"/>
          <ac:spMkLst>
            <pc:docMk/>
            <pc:sldMk cId="0" sldId="256"/>
            <ac:spMk id="2" creationId="{00000000-0000-0000-0000-000000000000}"/>
          </ac:spMkLst>
        </pc:spChg>
        <pc:spChg chg="mod">
          <ac:chgData name="Marcel Ronner" userId="74d139208260a0a6" providerId="LiveId" clId="{3A5E0FFD-BC2E-5510-9690-1F5A8D6E4E93}" dt="2026-09-13T20:01:02.704" v="174" actId="1076"/>
          <ac:spMkLst>
            <pc:docMk/>
            <pc:sldMk cId="0" sldId="256"/>
            <ac:spMk id="5" creationId="{00000000-0000-0000-0000-000000000000}"/>
          </ac:spMkLst>
        </pc:spChg>
        <pc:spChg chg="mod">
          <ac:chgData name="Marcel Ronner" userId="74d139208260a0a6" providerId="LiveId" clId="{3A5E0FFD-BC2E-5510-9690-1F5A8D6E4E93}" dt="2026-09-13T20:00:59.866" v="173" actId="1076"/>
          <ac:spMkLst>
            <pc:docMk/>
            <pc:sldMk cId="0" sldId="256"/>
            <ac:spMk id="6" creationId="{00000000-0000-0000-0000-000000000000}"/>
          </ac:spMkLst>
        </pc:spChg>
        <pc:spChg chg="mod">
          <ac:chgData name="Marcel Ronner" userId="74d139208260a0a6" providerId="LiveId" clId="{3A5E0FFD-BC2E-5510-9690-1F5A8D6E4E93}" dt="2026-09-13T20:00:59.866" v="173" actId="1076"/>
          <ac:spMkLst>
            <pc:docMk/>
            <pc:sldMk cId="0" sldId="256"/>
            <ac:spMk id="7" creationId="{00000000-0000-0000-0000-000000000000}"/>
          </ac:spMkLst>
        </pc:spChg>
        <pc:spChg chg="add mod">
          <ac:chgData name="Marcel Ronner" userId="74d139208260a0a6" providerId="LiveId" clId="{3A5E0FFD-BC2E-5510-9690-1F5A8D6E4E93}" dt="2026-09-13T20:01:31.179" v="179"/>
          <ac:spMkLst>
            <pc:docMk/>
            <pc:sldMk cId="0" sldId="256"/>
            <ac:spMk id="8" creationId="{1E87E793-AE66-D9FD-40ED-F87455DA6368}"/>
          </ac:spMkLst>
        </pc:spChg>
      </pc:sldChg>
      <pc:sldChg chg="delSp modSp mod">
        <pc:chgData name="Marcel Ronner" userId="74d139208260a0a6" providerId="LiveId" clId="{3A5E0FFD-BC2E-5510-9690-1F5A8D6E4E93}" dt="2026-09-13T20:06:28.531" v="210" actId="1076"/>
        <pc:sldMkLst>
          <pc:docMk/>
          <pc:sldMk cId="0" sldId="264"/>
        </pc:sldMkLst>
        <pc:spChg chg="mod">
          <ac:chgData name="Marcel Ronner" userId="74d139208260a0a6" providerId="LiveId" clId="{3A5E0FFD-BC2E-5510-9690-1F5A8D6E4E93}" dt="2026-09-13T20:05:52.379" v="204" actId="1076"/>
          <ac:spMkLst>
            <pc:docMk/>
            <pc:sldMk cId="0" sldId="264"/>
            <ac:spMk id="5" creationId="{00000000-0000-0000-0000-000000000000}"/>
          </ac:spMkLst>
        </pc:spChg>
        <pc:spChg chg="mod">
          <ac:chgData name="Marcel Ronner" userId="74d139208260a0a6" providerId="LiveId" clId="{3A5E0FFD-BC2E-5510-9690-1F5A8D6E4E93}" dt="2026-09-13T20:05:57.356" v="206" actId="1076"/>
          <ac:spMkLst>
            <pc:docMk/>
            <pc:sldMk cId="0" sldId="264"/>
            <ac:spMk id="6" creationId="{00000000-0000-0000-0000-000000000000}"/>
          </ac:spMkLst>
        </pc:spChg>
        <pc:spChg chg="del">
          <ac:chgData name="Marcel Ronner" userId="74d139208260a0a6" providerId="LiveId" clId="{3A5E0FFD-BC2E-5510-9690-1F5A8D6E4E93}" dt="2026-09-13T20:05:42.265" v="201" actId="478"/>
          <ac:spMkLst>
            <pc:docMk/>
            <pc:sldMk cId="0" sldId="264"/>
            <ac:spMk id="7" creationId="{00000000-0000-0000-0000-000000000000}"/>
          </ac:spMkLst>
        </pc:spChg>
        <pc:spChg chg="mod">
          <ac:chgData name="Marcel Ronner" userId="74d139208260a0a6" providerId="LiveId" clId="{3A5E0FFD-BC2E-5510-9690-1F5A8D6E4E93}" dt="2026-09-13T20:05:06.399" v="196" actId="14100"/>
          <ac:spMkLst>
            <pc:docMk/>
            <pc:sldMk cId="0" sldId="264"/>
            <ac:spMk id="11" creationId="{00000000-0000-0000-0000-000000000000}"/>
          </ac:spMkLst>
        </pc:spChg>
        <pc:spChg chg="mod">
          <ac:chgData name="Marcel Ronner" userId="74d139208260a0a6" providerId="LiveId" clId="{3A5E0FFD-BC2E-5510-9690-1F5A8D6E4E93}" dt="2026-09-13T20:05:10.632" v="197" actId="14100"/>
          <ac:spMkLst>
            <pc:docMk/>
            <pc:sldMk cId="0" sldId="264"/>
            <ac:spMk id="15" creationId="{00000000-0000-0000-0000-000000000000}"/>
          </ac:spMkLst>
        </pc:spChg>
        <pc:spChg chg="mod">
          <ac:chgData name="Marcel Ronner" userId="74d139208260a0a6" providerId="LiveId" clId="{3A5E0FFD-BC2E-5510-9690-1F5A8D6E4E93}" dt="2026-09-13T20:05:13.998" v="198" actId="14100"/>
          <ac:spMkLst>
            <pc:docMk/>
            <pc:sldMk cId="0" sldId="264"/>
            <ac:spMk id="19" creationId="{00000000-0000-0000-0000-000000000000}"/>
          </ac:spMkLst>
        </pc:spChg>
        <pc:spChg chg="mod">
          <ac:chgData name="Marcel Ronner" userId="74d139208260a0a6" providerId="LiveId" clId="{3A5E0FFD-BC2E-5510-9690-1F5A8D6E4E93}" dt="2026-09-13T20:05:17.031" v="199" actId="14100"/>
          <ac:spMkLst>
            <pc:docMk/>
            <pc:sldMk cId="0" sldId="264"/>
            <ac:spMk id="23" creationId="{00000000-0000-0000-0000-000000000000}"/>
          </ac:spMkLst>
        </pc:spChg>
        <pc:spChg chg="mod">
          <ac:chgData name="Marcel Ronner" userId="74d139208260a0a6" providerId="LiveId" clId="{3A5E0FFD-BC2E-5510-9690-1F5A8D6E4E93}" dt="2026-09-13T20:06:28.531" v="210" actId="1076"/>
          <ac:spMkLst>
            <pc:docMk/>
            <pc:sldMk cId="0" sldId="264"/>
            <ac:spMk id="24" creationId="{00000000-0000-0000-0000-000000000000}"/>
          </ac:spMkLst>
        </pc:spChg>
      </pc:sldChg>
      <pc:sldChg chg="modSp mod ord">
        <pc:chgData name="Marcel Ronner" userId="74d139208260a0a6" providerId="LiveId" clId="{3A5E0FFD-BC2E-5510-9690-1F5A8D6E4E93}" dt="2026-09-13T19:58:04.255" v="118" actId="20577"/>
        <pc:sldMkLst>
          <pc:docMk/>
          <pc:sldMk cId="0" sldId="268"/>
        </pc:sldMkLst>
        <pc:spChg chg="mod">
          <ac:chgData name="Marcel Ronner" userId="74d139208260a0a6" providerId="LiveId" clId="{3A5E0FFD-BC2E-5510-9690-1F5A8D6E4E93}" dt="2026-09-13T19:58:04.255" v="118" actId="20577"/>
          <ac:spMkLst>
            <pc:docMk/>
            <pc:sldMk cId="0" sldId="268"/>
            <ac:spMk id="12" creationId="{00000000-0000-0000-0000-000000000000}"/>
          </ac:spMkLst>
        </pc:spChg>
      </pc:sldChg>
      <pc:sldChg chg="delSp modSp mod">
        <pc:chgData name="Marcel Ronner" userId="74d139208260a0a6" providerId="LiveId" clId="{3A5E0FFD-BC2E-5510-9690-1F5A8D6E4E93}" dt="2026-09-13T19:58:48.652" v="146" actId="1036"/>
        <pc:sldMkLst>
          <pc:docMk/>
          <pc:sldMk cId="0" sldId="269"/>
        </pc:sldMkLst>
        <pc:spChg chg="mod">
          <ac:chgData name="Marcel Ronner" userId="74d139208260a0a6" providerId="LiveId" clId="{3A5E0FFD-BC2E-5510-9690-1F5A8D6E4E93}" dt="2026-09-13T19:58:26.108" v="124" actId="1038"/>
          <ac:spMkLst>
            <pc:docMk/>
            <pc:sldMk cId="0" sldId="269"/>
            <ac:spMk id="5" creationId="{00000000-0000-0000-0000-000000000000}"/>
          </ac:spMkLst>
        </pc:spChg>
        <pc:spChg chg="del">
          <ac:chgData name="Marcel Ronner" userId="74d139208260a0a6" providerId="LiveId" clId="{3A5E0FFD-BC2E-5510-9690-1F5A8D6E4E93}" dt="2026-09-13T19:51:22.429" v="2" actId="478"/>
          <ac:spMkLst>
            <pc:docMk/>
            <pc:sldMk cId="0" sldId="269"/>
            <ac:spMk id="6" creationId="{00000000-0000-0000-0000-000000000000}"/>
          </ac:spMkLst>
        </pc:spChg>
        <pc:spChg chg="mod">
          <ac:chgData name="Marcel Ronner" userId="74d139208260a0a6" providerId="LiveId" clId="{3A5E0FFD-BC2E-5510-9690-1F5A8D6E4E93}" dt="2026-09-13T19:53:27.008" v="58" actId="1076"/>
          <ac:spMkLst>
            <pc:docMk/>
            <pc:sldMk cId="0" sldId="269"/>
            <ac:spMk id="9" creationId="{00000000-0000-0000-0000-000000000000}"/>
          </ac:spMkLst>
        </pc:spChg>
        <pc:spChg chg="del">
          <ac:chgData name="Marcel Ronner" userId="74d139208260a0a6" providerId="LiveId" clId="{3A5E0FFD-BC2E-5510-9690-1F5A8D6E4E93}" dt="2026-09-13T19:51:24.280" v="3" actId="478"/>
          <ac:spMkLst>
            <pc:docMk/>
            <pc:sldMk cId="0" sldId="269"/>
            <ac:spMk id="10" creationId="{00000000-0000-0000-0000-000000000000}"/>
          </ac:spMkLst>
        </pc:spChg>
        <pc:spChg chg="mod">
          <ac:chgData name="Marcel Ronner" userId="74d139208260a0a6" providerId="LiveId" clId="{3A5E0FFD-BC2E-5510-9690-1F5A8D6E4E93}" dt="2026-09-13T19:53:30.638" v="59" actId="1076"/>
          <ac:spMkLst>
            <pc:docMk/>
            <pc:sldMk cId="0" sldId="269"/>
            <ac:spMk id="13" creationId="{00000000-0000-0000-0000-000000000000}"/>
          </ac:spMkLst>
        </pc:spChg>
        <pc:spChg chg="del">
          <ac:chgData name="Marcel Ronner" userId="74d139208260a0a6" providerId="LiveId" clId="{3A5E0FFD-BC2E-5510-9690-1F5A8D6E4E93}" dt="2026-09-13T19:51:26.172" v="4" actId="478"/>
          <ac:spMkLst>
            <pc:docMk/>
            <pc:sldMk cId="0" sldId="269"/>
            <ac:spMk id="14" creationId="{00000000-0000-0000-0000-000000000000}"/>
          </ac:spMkLst>
        </pc:spChg>
        <pc:spChg chg="mod">
          <ac:chgData name="Marcel Ronner" userId="74d139208260a0a6" providerId="LiveId" clId="{3A5E0FFD-BC2E-5510-9690-1F5A8D6E4E93}" dt="2026-09-13T19:58:43.532" v="143" actId="1038"/>
          <ac:spMkLst>
            <pc:docMk/>
            <pc:sldMk cId="0" sldId="269"/>
            <ac:spMk id="17" creationId="{00000000-0000-0000-0000-000000000000}"/>
          </ac:spMkLst>
        </pc:spChg>
        <pc:spChg chg="del mod">
          <ac:chgData name="Marcel Ronner" userId="74d139208260a0a6" providerId="LiveId" clId="{3A5E0FFD-BC2E-5510-9690-1F5A8D6E4E93}" dt="2026-09-13T19:51:27.977" v="5" actId="478"/>
          <ac:spMkLst>
            <pc:docMk/>
            <pc:sldMk cId="0" sldId="269"/>
            <ac:spMk id="18" creationId="{00000000-0000-0000-0000-000000000000}"/>
          </ac:spMkLst>
        </pc:spChg>
        <pc:spChg chg="mod">
          <ac:chgData name="Marcel Ronner" userId="74d139208260a0a6" providerId="LiveId" clId="{3A5E0FFD-BC2E-5510-9690-1F5A8D6E4E93}" dt="2026-09-13T19:58:48.652" v="146" actId="1036"/>
          <ac:spMkLst>
            <pc:docMk/>
            <pc:sldMk cId="0" sldId="269"/>
            <ac:spMk id="21" creationId="{00000000-0000-0000-0000-000000000000}"/>
          </ac:spMkLst>
        </pc:spChg>
        <pc:spChg chg="del">
          <ac:chgData name="Marcel Ronner" userId="74d139208260a0a6" providerId="LiveId" clId="{3A5E0FFD-BC2E-5510-9690-1F5A8D6E4E93}" dt="2026-09-13T19:51:30.272" v="6" actId="478"/>
          <ac:spMkLst>
            <pc:docMk/>
            <pc:sldMk cId="0" sldId="269"/>
            <ac:spMk id="22" creationId="{00000000-0000-0000-0000-000000000000}"/>
          </ac:spMkLst>
        </pc:spChg>
        <pc:spChg chg="mod">
          <ac:chgData name="Marcel Ronner" userId="74d139208260a0a6" providerId="LiveId" clId="{3A5E0FFD-BC2E-5510-9690-1F5A8D6E4E93}" dt="2026-09-13T19:52:11.885" v="39" actId="120"/>
          <ac:spMkLst>
            <pc:docMk/>
            <pc:sldMk cId="0" sldId="269"/>
            <ac:spMk id="25" creationId="{00000000-0000-0000-0000-000000000000}"/>
          </ac:spMkLst>
        </pc:spChg>
        <pc:spChg chg="del">
          <ac:chgData name="Marcel Ronner" userId="74d139208260a0a6" providerId="LiveId" clId="{3A5E0FFD-BC2E-5510-9690-1F5A8D6E4E93}" dt="2026-09-13T19:51:32.423" v="7" actId="478"/>
          <ac:spMkLst>
            <pc:docMk/>
            <pc:sldMk cId="0" sldId="269"/>
            <ac:spMk id="26" creationId="{00000000-0000-0000-0000-000000000000}"/>
          </ac:spMkLst>
        </pc:spChg>
        <pc:spChg chg="del mod">
          <ac:chgData name="Marcel Ronner" userId="74d139208260a0a6" providerId="LiveId" clId="{3A5E0FFD-BC2E-5510-9690-1F5A8D6E4E93}" dt="2026-09-13T19:54:50.570" v="64" actId="478"/>
          <ac:spMkLst>
            <pc:docMk/>
            <pc:sldMk cId="0" sldId="269"/>
            <ac:spMk id="27" creationId="{00000000-0000-0000-0000-000000000000}"/>
          </ac:spMkLst>
        </pc:spChg>
        <pc:spChg chg="mod">
          <ac:chgData name="Marcel Ronner" userId="74d139208260a0a6" providerId="LiveId" clId="{3A5E0FFD-BC2E-5510-9690-1F5A8D6E4E93}" dt="2026-09-13T19:57:10.729" v="116" actId="20577"/>
          <ac:spMkLst>
            <pc:docMk/>
            <pc:sldMk cId="0" sldId="269"/>
            <ac:spMk id="38" creationId="{00000000-0000-0000-0000-000000000000}"/>
          </ac:spMkLst>
        </pc:spChg>
        <pc:spChg chg="mod">
          <ac:chgData name="Marcel Ronner" userId="74d139208260a0a6" providerId="LiveId" clId="{3A5E0FFD-BC2E-5510-9690-1F5A8D6E4E93}" dt="2026-09-13T19:56:41.199" v="95" actId="108"/>
          <ac:spMkLst>
            <pc:docMk/>
            <pc:sldMk cId="0" sldId="269"/>
            <ac:spMk id="39" creationId="{00000000-0000-0000-0000-000000000000}"/>
          </ac:spMkLst>
        </pc:spChg>
      </pc:sldChg>
      <pc:sldChg chg="delSp mod">
        <pc:chgData name="Marcel Ronner" userId="74d139208260a0a6" providerId="LiveId" clId="{3A5E0FFD-BC2E-5510-9690-1F5A8D6E4E93}" dt="2026-09-13T20:02:09.668" v="180" actId="478"/>
        <pc:sldMkLst>
          <pc:docMk/>
          <pc:sldMk cId="0" sldId="270"/>
        </pc:sldMkLst>
        <pc:spChg chg="del">
          <ac:chgData name="Marcel Ronner" userId="74d139208260a0a6" providerId="LiveId" clId="{3A5E0FFD-BC2E-5510-9690-1F5A8D6E4E93}" dt="2026-09-13T20:02:09.668" v="180" actId="478"/>
          <ac:spMkLst>
            <pc:docMk/>
            <pc:sldMk cId="0" sldId="270"/>
            <ac:spMk id="4" creationId="{00000000-0000-0000-0000-000000000000}"/>
          </ac:spMkLst>
        </pc:spChg>
      </pc:sldChg>
      <pc:sldChg chg="delSp mod">
        <pc:chgData name="Marcel Ronner" userId="74d139208260a0a6" providerId="LiveId" clId="{3A5E0FFD-BC2E-5510-9690-1F5A8D6E4E93}" dt="2026-09-13T20:02:13.705" v="181" actId="478"/>
        <pc:sldMkLst>
          <pc:docMk/>
          <pc:sldMk cId="0" sldId="271"/>
        </pc:sldMkLst>
        <pc:spChg chg="del">
          <ac:chgData name="Marcel Ronner" userId="74d139208260a0a6" providerId="LiveId" clId="{3A5E0FFD-BC2E-5510-9690-1F5A8D6E4E93}" dt="2026-09-13T20:02:13.705" v="181" actId="478"/>
          <ac:spMkLst>
            <pc:docMk/>
            <pc:sldMk cId="0" sldId="271"/>
            <ac:spMk id="4" creationId="{00000000-0000-0000-0000-000000000000}"/>
          </ac:spMkLst>
        </pc:spChg>
      </pc:sldChg>
      <pc:sldChg chg="delSp mod">
        <pc:chgData name="Marcel Ronner" userId="74d139208260a0a6" providerId="LiveId" clId="{3A5E0FFD-BC2E-5510-9690-1F5A8D6E4E93}" dt="2026-09-13T20:02:18.681" v="182" actId="478"/>
        <pc:sldMkLst>
          <pc:docMk/>
          <pc:sldMk cId="0" sldId="272"/>
        </pc:sldMkLst>
        <pc:spChg chg="del">
          <ac:chgData name="Marcel Ronner" userId="74d139208260a0a6" providerId="LiveId" clId="{3A5E0FFD-BC2E-5510-9690-1F5A8D6E4E93}" dt="2026-09-13T20:02:18.681" v="182" actId="478"/>
          <ac:spMkLst>
            <pc:docMk/>
            <pc:sldMk cId="0" sldId="272"/>
            <ac:spMk id="4" creationId="{00000000-0000-0000-0000-000000000000}"/>
          </ac:spMkLst>
        </pc:spChg>
      </pc:sldChg>
      <pc:sldChg chg="delSp modSp mod">
        <pc:chgData name="Marcel Ronner" userId="74d139208260a0a6" providerId="LiveId" clId="{3A5E0FFD-BC2E-5510-9690-1F5A8D6E4E93}" dt="2026-09-13T20:04:13.454" v="195" actId="478"/>
        <pc:sldMkLst>
          <pc:docMk/>
          <pc:sldMk cId="0" sldId="273"/>
        </pc:sldMkLst>
        <pc:spChg chg="del mod">
          <ac:chgData name="Marcel Ronner" userId="74d139208260a0a6" providerId="LiveId" clId="{3A5E0FFD-BC2E-5510-9690-1F5A8D6E4E93}" dt="2026-09-13T20:04:13.454" v="195" actId="478"/>
          <ac:spMkLst>
            <pc:docMk/>
            <pc:sldMk cId="0" sldId="273"/>
            <ac:spMk id="4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284314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Route: start with context engineering as the discipline, then the two developments that make it tractable, then the concrete proposal at the end. Framing: context engineering is now the bottleneck discipline. Two concrete developments move it forward: Karpathy's LLM wiki pattern (April 2026) and Google Cloud's Open Knowledge Format, which turns that pattern into a portable spec.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Chapter 1 of 4: Context Engineering. Why what the model sees matters more than what we tell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Key point: the failure mode of agent systems is almost never prompt wording. It is missing, stale or contradictory context.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framing Google Cloud used when introducing OKF: context is locked inside fragmented systems, so every agent build repeats the 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Chapter 2 of 4: LLM Wiki. Compiling knowledge once into linked pages — and a working example.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Karpathy's line: Obsidian is the IDE, the LLM is the programmer, the wiki is the codebase. The ingest step is where we extend the gist: because the agent already holds the design rules, ingest becomes a validation gate, not just a filing action. The gist itself describes ingest as summarising, updating pages and logging.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the top row left to right, then point at the black bar: the output of querying feeds back into the input. Emphasise that steps 4 and 5 are ordinary git — no new tooling, and the review gate you already have for code now covers knowledge.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 honest in the room: this is not a universal RAG killer. Hybrid setups are common. The wiki wins where knowledge is stable, curated and needs to be auditable.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Show the pattern working before the spec. Everything on the LLM wiki slides exists in this repository: immutable originals, pages the agent writes, a schema in AGENTS.md, and the operations as skills that run in Claude Code and GitHub Copilot alike. Two differences to the gist worth pointing out: /note, because most of what a person knows never had a document behind it, and verified, which only the owner writes. Then open the live wiki and click from a topic page to its source page.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Chapter 3 of 4: OKF Product Documentation. Google's Open Knowledge Format, its 41 checks, and the ATM example.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Google's own framing: if you can cat a file you can read OKF; if you can git clone a repo you can ship it. That minimalism is the point.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Attested computation is the piece most people miss. It is the difference between an agent telling you revenue and an agent proving it ran the finance-approved query.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This is the proposal from the closing slide, already built at small scale. Walk the chain left to right: every artifact records in its sources: frontmatter which artifacts it derives from, so a change travels downstream and a tool can follow it. Then the four cards: nothing changes without a change request, Jarvis does the analysis and the bookkeeping, a person approves with make verify, and CI refuses to publish a broken link or a diagram that does not render. Open the change log and one change request live — CR-1.1 is the easiest story.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spec is prose; an assessment needs a checklist whose rows can be compared run by run. The register numbers every obligation in SPEC.md v0.2 as OKF-&lt;family&gt;-&lt;nn&gt;, ordered like the spec. IDs are never renumbered, so two assessments months apart diff row by row. Only the three red checks decide conformance (§11); everything else is quality. Consumer MUST checks cannot be proven by looking at files — they need an acceptance test against a real reader. Each run records one of five statuses per check and is filed as a dated page, never overwritten.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Chapter 4 of 4: Conclusion. Why this belongs on the PO / BA desk — and what to try next.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Point 3 is the one that lands with engineering: the wiki is not a passive archive. Because the design rules are already recorded, the change request becomes a design review that runs before the story is written.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This is the ask, and it carries the summary of why OKF moves context engineering forward. Points 1, 3 and 6 are the context-engineering argument: context becomes an artifact a team owns, knowledge compounds instead of evaporating with the session, and model spend moves to writing rather than reading. Point 5 separates this from a documentation clean-up: the bundle is not an archive of what we built, it is the rule set the next change gets checked against. Expect the objection that docs are already a chore nobody maintains — a linter in CI flags pages once they go stale, and the agent writes most of the pages. Practical close: one bounded product area, in git, with PR review — a two-week experiment, not a platform programme.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marcelRonner/okf-llm-wiki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www.wlrm.ch/okf-llm-wiki/" TargetMode="Externa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wlrm.ch/okf-productdocumentation/site/" TargetMode="Externa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github.com/marcelRonner/okf-productdocumentation" TargetMode="External"/><Relationship Id="rId4" Type="http://schemas.openxmlformats.org/officeDocument/2006/relationships/hyperlink" Target="https://www.wlrm.ch/okf-productdocumentation/" TargetMode="Externa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10698480" y="4389120"/>
            <a:ext cx="2926080" cy="2926080"/>
          </a:xfrm>
          <a:prstGeom prst="ellipse">
            <a:avLst/>
          </a:prstGeom>
          <a:solidFill>
            <a:srgbClr val="8B0D14"/>
          </a:solidFill>
          <a:ln w="12700">
            <a:solidFill>
              <a:srgbClr val="8B0D1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/>
          <p:cNvSpPr txBox="1"/>
          <p:nvPr/>
        </p:nvSpPr>
        <p:spPr>
          <a:xfrm>
            <a:off x="822960" y="1965960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OKF Product Documentation</a:t>
            </a:r>
            <a:endParaRPr lang="en-US" sz="44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83665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D6D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Making the product's own documentation the context layer our agents run 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822960" y="3886200"/>
            <a:ext cx="4542860" cy="502920"/>
          </a:xfrm>
          <a:prstGeom prst="roundRect">
            <a:avLst>
              <a:gd name="adj" fmla="val 14545"/>
            </a:avLst>
          </a:prstGeom>
          <a:solidFill>
            <a:srgbClr val="C1121F"/>
          </a:solidFill>
          <a:ln w="12700">
            <a:solidFill>
              <a:srgbClr val="C1121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 txBox="1"/>
          <p:nvPr/>
        </p:nvSpPr>
        <p:spPr>
          <a:xfrm>
            <a:off x="822960" y="3886200"/>
            <a:ext cx="45428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Engineering  -&gt; LLM Wiki  -&gt; OKF Product Documentation </a:t>
            </a:r>
            <a:endParaRPr lang="en-US" sz="1300" dirty="0"/>
          </a:p>
        </p:txBody>
      </p:sp>
      <p:sp>
        <p:nvSpPr>
          <p:cNvPr id="8" name="Shape 2">
            <a:extLst>
              <a:ext uri="{FF2B5EF4-FFF2-40B4-BE49-F238E27FC236}">
                <a16:creationId xmlns:a16="http://schemas.microsoft.com/office/drawing/2014/main" id="{1E87E793-AE66-D9FD-40ED-F87455DA6368}"/>
              </a:ext>
            </a:extLst>
          </p:cNvPr>
          <p:cNvSpPr/>
          <p:nvPr/>
        </p:nvSpPr>
        <p:spPr>
          <a:xfrm>
            <a:off x="8856000" y="-1152000"/>
            <a:ext cx="4932000" cy="4932000"/>
          </a:xfrm>
          <a:prstGeom prst="ellipse">
            <a:avLst/>
          </a:prstGeom>
          <a:solidFill>
            <a:srgbClr val="C1121F"/>
          </a:solidFill>
          <a:ln w="12700">
            <a:solidFill>
              <a:srgbClr val="C1121F"/>
            </a:solidFill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8856000" y="-1152000"/>
            <a:ext cx="4932000" cy="4932000"/>
          </a:xfrm>
          <a:prstGeom prst="ellipse">
            <a:avLst/>
          </a:prstGeom>
          <a:solidFill>
            <a:srgbClr val="C1121F"/>
          </a:solidFill>
          <a:ln w="12700">
            <a:solidFill>
              <a:srgbClr val="C1121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3"/>
          <p:cNvSpPr/>
          <p:nvPr/>
        </p:nvSpPr>
        <p:spPr>
          <a:xfrm>
            <a:off x="10692000" y="4392000"/>
            <a:ext cx="2916000" cy="2916000"/>
          </a:xfrm>
          <a:prstGeom prst="ellipse">
            <a:avLst/>
          </a:prstGeom>
          <a:solidFill>
            <a:srgbClr val="8B0D14"/>
          </a:solidFill>
          <a:ln w="12700">
            <a:solidFill>
              <a:srgbClr val="8B0D14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5"/>
          <p:cNvSpPr txBox="1"/>
          <p:nvPr/>
        </p:nvSpPr>
        <p:spPr>
          <a:xfrm>
            <a:off x="828000" y="2088000"/>
            <a:ext cx="7740000" cy="86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spc="0" dirty="0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Context Engineering</a:t>
            </a:r>
          </a:p>
        </p:txBody>
      </p:sp>
      <p:sp>
        <p:nvSpPr>
          <p:cNvPr id="6" name="Text 6"/>
          <p:cNvSpPr txBox="1"/>
          <p:nvPr/>
        </p:nvSpPr>
        <p:spPr>
          <a:xfrm>
            <a:off x="828000" y="2952000"/>
            <a:ext cx="7740000" cy="43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spc="0" dirty="0">
                <a:solidFill>
                  <a:srgbClr val="D6D6D6"/>
                </a:solidFill>
                <a:latin typeface="Calibri"/>
                <a:ea typeface="Calibri"/>
                <a:cs typeface="Calibri"/>
              </a:rPr>
              <a:t>Why what the model sees matters more than what we tell it</a:t>
            </a:r>
          </a:p>
        </p:txBody>
      </p:sp>
      <p:sp>
        <p:nvSpPr>
          <p:cNvPr id="7" name="Agenda 7"/>
          <p:cNvSpPr/>
          <p:nvPr/>
        </p:nvSpPr>
        <p:spPr>
          <a:xfrm>
            <a:off x="828000" y="3672000"/>
            <a:ext cx="936000" cy="43200"/>
          </a:xfrm>
          <a:prstGeom prst="rect">
            <a:avLst/>
          </a:prstGeom>
          <a:solidFill>
            <a:srgbClr val="C1121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" name="Agenda 8"/>
          <p:cNvSpPr/>
          <p:nvPr/>
        </p:nvSpPr>
        <p:spPr>
          <a:xfrm>
            <a:off x="828000" y="4075200"/>
            <a:ext cx="43200" cy="273600"/>
          </a:xfrm>
          <a:prstGeom prst="rect">
            <a:avLst/>
          </a:prstGeom>
          <a:solidFill>
            <a:srgbClr val="C1121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" name="Agenda 9"/>
          <p:cNvSpPr txBox="1"/>
          <p:nvPr/>
        </p:nvSpPr>
        <p:spPr>
          <a:xfrm>
            <a:off x="1044000" y="4032000"/>
            <a:ext cx="576000" cy="3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spc="0" dirty="0">
                <a:solidFill>
                  <a:srgbClr val="C1121F"/>
                </a:solidFill>
                <a:latin typeface="Cambria"/>
                <a:ea typeface="Cambria"/>
                <a:cs typeface="Cambria"/>
              </a:rPr>
              <a:t>01</a:t>
            </a:r>
          </a:p>
        </p:txBody>
      </p:sp>
      <p:sp>
        <p:nvSpPr>
          <p:cNvPr id="10" name="Agenda 10"/>
          <p:cNvSpPr txBox="1"/>
          <p:nvPr/>
        </p:nvSpPr>
        <p:spPr>
          <a:xfrm>
            <a:off x="1584000" y="4032000"/>
            <a:ext cx="6480000" cy="3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spc="0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Context Engineering</a:t>
            </a:r>
          </a:p>
        </p:txBody>
      </p:sp>
      <p:sp>
        <p:nvSpPr>
          <p:cNvPr id="11" name="Agenda 11"/>
          <p:cNvSpPr txBox="1"/>
          <p:nvPr/>
        </p:nvSpPr>
        <p:spPr>
          <a:xfrm>
            <a:off x="1044000" y="4482000"/>
            <a:ext cx="576000" cy="3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spc="0" dirty="0">
                <a:solidFill>
                  <a:srgbClr val="6E6E6E"/>
                </a:solidFill>
                <a:latin typeface="Cambria"/>
                <a:ea typeface="Cambria"/>
                <a:cs typeface="Cambria"/>
              </a:rPr>
              <a:t>02</a:t>
            </a:r>
          </a:p>
        </p:txBody>
      </p:sp>
      <p:sp>
        <p:nvSpPr>
          <p:cNvPr id="12" name="Agenda 12"/>
          <p:cNvSpPr txBox="1"/>
          <p:nvPr/>
        </p:nvSpPr>
        <p:spPr>
          <a:xfrm>
            <a:off x="1584000" y="4482000"/>
            <a:ext cx="6480000" cy="3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spc="0" dirty="0">
                <a:solidFill>
                  <a:srgbClr val="8A8A8A"/>
                </a:solidFill>
                <a:latin typeface="Calibri"/>
                <a:ea typeface="Calibri"/>
                <a:cs typeface="Calibri"/>
              </a:rPr>
              <a:t>LLM Wiki</a:t>
            </a:r>
          </a:p>
        </p:txBody>
      </p:sp>
      <p:sp>
        <p:nvSpPr>
          <p:cNvPr id="13" name="Agenda 13"/>
          <p:cNvSpPr txBox="1"/>
          <p:nvPr/>
        </p:nvSpPr>
        <p:spPr>
          <a:xfrm>
            <a:off x="1044000" y="4932000"/>
            <a:ext cx="576000" cy="3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spc="0" dirty="0">
                <a:solidFill>
                  <a:srgbClr val="6E6E6E"/>
                </a:solidFill>
                <a:latin typeface="Cambria"/>
                <a:ea typeface="Cambria"/>
                <a:cs typeface="Cambria"/>
              </a:rPr>
              <a:t>03</a:t>
            </a:r>
          </a:p>
        </p:txBody>
      </p:sp>
      <p:sp>
        <p:nvSpPr>
          <p:cNvPr id="14" name="Agenda 14"/>
          <p:cNvSpPr txBox="1"/>
          <p:nvPr/>
        </p:nvSpPr>
        <p:spPr>
          <a:xfrm>
            <a:off x="1584000" y="4932000"/>
            <a:ext cx="6480000" cy="3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spc="0" dirty="0">
                <a:solidFill>
                  <a:srgbClr val="8A8A8A"/>
                </a:solidFill>
                <a:latin typeface="Calibri"/>
                <a:ea typeface="Calibri"/>
                <a:cs typeface="Calibri"/>
              </a:rPr>
              <a:t>OKF Product Documentation</a:t>
            </a:r>
          </a:p>
        </p:txBody>
      </p:sp>
      <p:sp>
        <p:nvSpPr>
          <p:cNvPr id="15" name="Agenda 15"/>
          <p:cNvSpPr txBox="1"/>
          <p:nvPr/>
        </p:nvSpPr>
        <p:spPr>
          <a:xfrm>
            <a:off x="1044000" y="5382000"/>
            <a:ext cx="576000" cy="3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spc="0" dirty="0">
                <a:solidFill>
                  <a:srgbClr val="6E6E6E"/>
                </a:solidFill>
                <a:latin typeface="Cambria"/>
                <a:ea typeface="Cambria"/>
                <a:cs typeface="Cambria"/>
              </a:rPr>
              <a:t>04</a:t>
            </a:r>
          </a:p>
        </p:txBody>
      </p:sp>
      <p:sp>
        <p:nvSpPr>
          <p:cNvPr id="16" name="Agenda 16"/>
          <p:cNvSpPr txBox="1"/>
          <p:nvPr/>
        </p:nvSpPr>
        <p:spPr>
          <a:xfrm>
            <a:off x="1584000" y="5382000"/>
            <a:ext cx="6480000" cy="3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spc="0" dirty="0">
                <a:solidFill>
                  <a:srgbClr val="8A8A8A"/>
                </a:solidFill>
                <a:latin typeface="Calibri"/>
                <a:ea typeface="Calibri"/>
                <a:cs typeface="Calibri"/>
              </a:rPr>
              <a:t>Conclusion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414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context engineering is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115568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engineering asks “what do I say?” — context engineering asks “what does the model see?”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10881360" cy="777240"/>
          </a:xfrm>
          <a:prstGeom prst="roundRect">
            <a:avLst>
              <a:gd name="adj" fmla="val 7059"/>
            </a:avLst>
          </a:prstGeom>
          <a:solidFill>
            <a:srgbClr val="EAEAEA"/>
          </a:solidFill>
          <a:ln w="12700">
            <a:solidFill>
              <a:srgbClr val="EAEAEA"/>
            </a:solidFill>
            <a:prstDash val="solid"/>
          </a:ln>
          <a:effectLst>
            <a:outerShdw blurRad="889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5" name="Text 3"/>
          <p:cNvSpPr txBox="1"/>
          <p:nvPr/>
        </p:nvSpPr>
        <p:spPr>
          <a:xfrm>
            <a:off x="960120" y="1691640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Designing the </a:t>
            </a:r>
            <a:r>
              <a:rPr lang="en-US" sz="1500" b="1" dirty="0">
                <a:solidFill>
                  <a:srgbClr val="C11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information payload</a:t>
            </a: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 LLM or agent receives at inference time — and treating the context window as a </a:t>
            </a:r>
            <a:r>
              <a:rPr lang="en-US" sz="1500" b="1" dirty="0">
                <a:solidFill>
                  <a:srgbClr val="C11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finite attention budget</a:t>
            </a: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85800" y="2816352"/>
            <a:ext cx="384048" cy="384048"/>
          </a:xfrm>
          <a:prstGeom prst="ellipse">
            <a:avLst/>
          </a:prstGeom>
          <a:solidFill>
            <a:srgbClr val="C1121F"/>
          </a:solidFill>
          <a:ln w="12700">
            <a:solidFill>
              <a:srgbClr val="C1121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 txBox="1"/>
          <p:nvPr/>
        </p:nvSpPr>
        <p:spPr>
          <a:xfrm>
            <a:off x="685800" y="28163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234440" y="277063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Instructions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3657600" y="277063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prompts, roles, </a:t>
            </a:r>
            <a:r>
              <a:rPr lang="en-US" sz="1400" b="1" dirty="0">
                <a:solidFill>
                  <a:srgbClr val="C11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 of engagement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85800" y="3438144"/>
            <a:ext cx="384048" cy="384048"/>
          </a:xfrm>
          <a:prstGeom prst="ellipse">
            <a:avLst/>
          </a:prstGeom>
          <a:solidFill>
            <a:srgbClr val="141414"/>
          </a:solidFill>
          <a:ln w="12700">
            <a:solidFill>
              <a:srgbClr val="14141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/>
          <p:cNvSpPr txBox="1"/>
          <p:nvPr/>
        </p:nvSpPr>
        <p:spPr>
          <a:xfrm>
            <a:off x="685800" y="34381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1234440" y="3392424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3657600" y="3392424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Retrieved documents, </a:t>
            </a:r>
            <a:r>
              <a:rPr lang="en-US" sz="1400" b="1" dirty="0">
                <a:solidFill>
                  <a:srgbClr val="C11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schemas</a:t>
            </a:r>
            <a:r>
              <a:rPr lang="en-US" sz="14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domain facts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85800" y="4059936"/>
            <a:ext cx="384048" cy="384048"/>
          </a:xfrm>
          <a:prstGeom prst="ellipse">
            <a:avLst/>
          </a:prstGeom>
          <a:solidFill>
            <a:srgbClr val="C1121F"/>
          </a:solidFill>
          <a:ln w="12700">
            <a:solidFill>
              <a:srgbClr val="C1121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3"/>
          <p:cNvSpPr txBox="1"/>
          <p:nvPr/>
        </p:nvSpPr>
        <p:spPr>
          <a:xfrm>
            <a:off x="685800" y="4059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1234440" y="4014216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3657600" y="401421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agent can call, and </a:t>
            </a:r>
            <a:r>
              <a:rPr lang="en-US" sz="1400" b="1" dirty="0">
                <a:solidFill>
                  <a:srgbClr val="C11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is described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85800" y="4681728"/>
            <a:ext cx="384048" cy="384048"/>
          </a:xfrm>
          <a:prstGeom prst="ellipse">
            <a:avLst/>
          </a:prstGeom>
          <a:solidFill>
            <a:srgbClr val="141414"/>
          </a:solidFill>
          <a:ln w="12700">
            <a:solidFill>
              <a:srgbClr val="14141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Text 17"/>
          <p:cNvSpPr txBox="1"/>
          <p:nvPr/>
        </p:nvSpPr>
        <p:spPr>
          <a:xfrm>
            <a:off x="685800" y="46817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1234440" y="463600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&amp; state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3657600" y="463600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</a:t>
            </a:r>
            <a:r>
              <a:rPr lang="en-US" sz="1400" b="1" dirty="0">
                <a:solidFill>
                  <a:srgbClr val="C11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survives</a:t>
            </a:r>
            <a:r>
              <a:rPr lang="en-US" sz="14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between turns and sessions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685800" y="5303520"/>
            <a:ext cx="384048" cy="384048"/>
          </a:xfrm>
          <a:prstGeom prst="ellipse">
            <a:avLst/>
          </a:prstGeom>
          <a:solidFill>
            <a:srgbClr val="C1121F"/>
          </a:solidFill>
          <a:ln w="12700">
            <a:solidFill>
              <a:srgbClr val="C1121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Text 21"/>
          <p:cNvSpPr txBox="1"/>
          <p:nvPr/>
        </p:nvSpPr>
        <p:spPr>
          <a:xfrm>
            <a:off x="685800" y="5303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1234440" y="52578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Orchestration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3657600" y="525780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Compaction, sub-agents, </a:t>
            </a:r>
            <a:r>
              <a:rPr lang="en-US" sz="1400" b="1" dirty="0">
                <a:solidFill>
                  <a:srgbClr val="C11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leave out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640080" y="6172200"/>
            <a:ext cx="108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 popularised on X by Tobi Lütke (19 June 2025) and Andrej Karpathy (25 June 2025); earlier uses exist outside LLMs.</a:t>
            </a:r>
            <a:endParaRPr lang="en-US" sz="1000" dirty="0"/>
          </a:p>
        </p:txBody>
      </p:sp>
      <p:sp>
        <p:nvSpPr>
          <p:cNvPr id="27" name="Agenda 27"/>
          <p:cNvSpPr txBox="1"/>
          <p:nvPr/>
        </p:nvSpPr>
        <p:spPr>
          <a:xfrm>
            <a:off x="648000" y="136800"/>
            <a:ext cx="2439000" cy="1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spc="100" dirty="0">
                <a:solidFill>
                  <a:srgbClr val="C1121F"/>
                </a:solidFill>
                <a:latin typeface="Calibri"/>
                <a:ea typeface="Calibri"/>
                <a:cs typeface="Calibri"/>
              </a:rPr>
              <a:t>01  CONTEXT ENGINEERING</a:t>
            </a:r>
          </a:p>
        </p:txBody>
      </p:sp>
      <p:sp>
        <p:nvSpPr>
          <p:cNvPr id="28" name="Agenda 28"/>
          <p:cNvSpPr/>
          <p:nvPr/>
        </p:nvSpPr>
        <p:spPr>
          <a:xfrm>
            <a:off x="648000" y="331200"/>
            <a:ext cx="2439000" cy="43200"/>
          </a:xfrm>
          <a:prstGeom prst="rect">
            <a:avLst/>
          </a:prstGeom>
          <a:solidFill>
            <a:srgbClr val="C1121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9" name="Agenda 29"/>
          <p:cNvSpPr txBox="1"/>
          <p:nvPr/>
        </p:nvSpPr>
        <p:spPr>
          <a:xfrm>
            <a:off x="3195000" y="136800"/>
            <a:ext cx="2439000" cy="1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spc="100" dirty="0">
                <a:solidFill>
                  <a:srgbClr val="9A9A9A"/>
                </a:solidFill>
                <a:latin typeface="Calibri"/>
                <a:ea typeface="Calibri"/>
                <a:cs typeface="Calibri"/>
              </a:rPr>
              <a:t>02  </a:t>
            </a:r>
            <a:r>
              <a:rPr lang="en-US" sz="850" spc="100" dirty="0">
                <a:solidFill>
                  <a:srgbClr val="9A9A9A"/>
                </a:solidFill>
                <a:latin typeface="Calibri"/>
                <a:ea typeface="Calibri"/>
                <a:cs typeface="Calibri"/>
              </a:rPr>
              <a:t>LLM WIKI</a:t>
            </a:r>
          </a:p>
        </p:txBody>
      </p:sp>
      <p:sp>
        <p:nvSpPr>
          <p:cNvPr id="30" name="Agenda 30"/>
          <p:cNvSpPr/>
          <p:nvPr/>
        </p:nvSpPr>
        <p:spPr>
          <a:xfrm>
            <a:off x="3195000" y="331200"/>
            <a:ext cx="2439000" cy="21600"/>
          </a:xfrm>
          <a:prstGeom prst="rect">
            <a:avLst/>
          </a:prstGeom>
          <a:solidFill>
            <a:srgbClr val="E2E2E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1" name="Agenda 31"/>
          <p:cNvSpPr txBox="1"/>
          <p:nvPr/>
        </p:nvSpPr>
        <p:spPr>
          <a:xfrm>
            <a:off x="5742000" y="136800"/>
            <a:ext cx="2439000" cy="1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spc="100" dirty="0">
                <a:solidFill>
                  <a:srgbClr val="9A9A9A"/>
                </a:solidFill>
                <a:latin typeface="Calibri"/>
                <a:ea typeface="Calibri"/>
                <a:cs typeface="Calibri"/>
              </a:rPr>
              <a:t>03  </a:t>
            </a:r>
            <a:r>
              <a:rPr lang="en-US" sz="850" spc="100" dirty="0">
                <a:solidFill>
                  <a:srgbClr val="9A9A9A"/>
                </a:solidFill>
                <a:latin typeface="Calibri"/>
                <a:ea typeface="Calibri"/>
                <a:cs typeface="Calibri"/>
              </a:rPr>
              <a:t>OKF PRODUCT DOCUMENTATION</a:t>
            </a:r>
          </a:p>
        </p:txBody>
      </p:sp>
      <p:sp>
        <p:nvSpPr>
          <p:cNvPr id="32" name="Agenda 32"/>
          <p:cNvSpPr/>
          <p:nvPr/>
        </p:nvSpPr>
        <p:spPr>
          <a:xfrm>
            <a:off x="5742000" y="331200"/>
            <a:ext cx="2439000" cy="21600"/>
          </a:xfrm>
          <a:prstGeom prst="rect">
            <a:avLst/>
          </a:prstGeom>
          <a:solidFill>
            <a:srgbClr val="E2E2E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3" name="Agenda 33"/>
          <p:cNvSpPr txBox="1"/>
          <p:nvPr/>
        </p:nvSpPr>
        <p:spPr>
          <a:xfrm>
            <a:off x="8289000" y="136800"/>
            <a:ext cx="2439000" cy="1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spc="100" dirty="0">
                <a:solidFill>
                  <a:srgbClr val="9A9A9A"/>
                </a:solidFill>
                <a:latin typeface="Calibri"/>
                <a:ea typeface="Calibri"/>
                <a:cs typeface="Calibri"/>
              </a:rPr>
              <a:t>04  </a:t>
            </a:r>
            <a:r>
              <a:rPr lang="en-US" sz="850" spc="100" dirty="0">
                <a:solidFill>
                  <a:srgbClr val="9A9A9A"/>
                </a:solidFill>
                <a:latin typeface="Calibri"/>
                <a:ea typeface="Calibri"/>
                <a:cs typeface="Calibri"/>
              </a:rPr>
              <a:t>CONCLUSION</a:t>
            </a:r>
          </a:p>
        </p:txBody>
      </p:sp>
      <p:sp>
        <p:nvSpPr>
          <p:cNvPr id="34" name="Agenda 34"/>
          <p:cNvSpPr/>
          <p:nvPr/>
        </p:nvSpPr>
        <p:spPr>
          <a:xfrm>
            <a:off x="8289000" y="331200"/>
            <a:ext cx="2439000" cy="21600"/>
          </a:xfrm>
          <a:prstGeom prst="rect">
            <a:avLst/>
          </a:prstGeom>
          <a:solidFill>
            <a:srgbClr val="E2E2E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414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this is the bottleneck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115568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new agent re-solves the same context-assembly problem from scratch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212080" cy="1920240"/>
          </a:xfrm>
          <a:prstGeom prst="roundRect">
            <a:avLst>
              <a:gd name="adj" fmla="val 2857"/>
            </a:avLst>
          </a:prstGeom>
          <a:solidFill>
            <a:srgbClr val="EAEAEA"/>
          </a:solidFill>
          <a:ln w="12700">
            <a:solidFill>
              <a:srgbClr val="EAEAEA"/>
            </a:solidFill>
            <a:prstDash val="solid"/>
          </a:ln>
          <a:effectLst>
            <a:outerShdw blurRad="889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960120" y="2039112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C112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Fragmented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468880"/>
            <a:ext cx="45720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lives in data catalogs, wikis, code comments, Slack threads — and </a:t>
            </a:r>
            <a:r>
              <a:rPr lang="en-US" sz="1400" b="1" dirty="0">
                <a:solidFill>
                  <a:srgbClr val="C11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senior colleagues' heads</a:t>
            </a: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309360" y="1783080"/>
            <a:ext cx="5212080" cy="1920240"/>
          </a:xfrm>
          <a:prstGeom prst="roundRect">
            <a:avLst>
              <a:gd name="adj" fmla="val 2857"/>
            </a:avLst>
          </a:prstGeom>
          <a:solidFill>
            <a:srgbClr val="EAEAEA"/>
          </a:solidFill>
          <a:ln w="12700">
            <a:solidFill>
              <a:srgbClr val="EAEAEA"/>
            </a:solidFill>
            <a:prstDash val="solid"/>
          </a:ln>
          <a:effectLst>
            <a:outerShdw blurRad="889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6629400" y="2039112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C112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Human-shaped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6629400" y="2468880"/>
            <a:ext cx="45720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 are written as </a:t>
            </a:r>
            <a:r>
              <a:rPr lang="en-US" sz="1400" b="1" dirty="0">
                <a:solidFill>
                  <a:srgbClr val="C11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narrative prose</a:t>
            </a: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Models don't need the backstory; it dilutes the signal.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0080" y="4069080"/>
            <a:ext cx="5212080" cy="1920240"/>
          </a:xfrm>
          <a:prstGeom prst="roundRect">
            <a:avLst>
              <a:gd name="adj" fmla="val 2857"/>
            </a:avLst>
          </a:prstGeom>
          <a:solidFill>
            <a:srgbClr val="F4F4F4"/>
          </a:solidFill>
          <a:ln w="12700">
            <a:solidFill>
              <a:srgbClr val="F4F4F4"/>
            </a:solidFill>
            <a:prstDash val="solid"/>
          </a:ln>
          <a:effectLst>
            <a:outerShdw blurRad="889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960120" y="4325112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C112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Re-derived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4754880"/>
            <a:ext cx="45720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 RAG rediscovers the same knowledge on every single query. </a:t>
            </a:r>
            <a:r>
              <a:rPr lang="en-US" sz="1400" b="1" dirty="0">
                <a:solidFill>
                  <a:srgbClr val="C11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compounds</a:t>
            </a: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309360" y="4069080"/>
            <a:ext cx="5212080" cy="1920240"/>
          </a:xfrm>
          <a:prstGeom prst="roundRect">
            <a:avLst>
              <a:gd name="adj" fmla="val 2857"/>
            </a:avLst>
          </a:prstGeom>
          <a:solidFill>
            <a:srgbClr val="F4F4F4"/>
          </a:solidFill>
          <a:ln w="12700">
            <a:solidFill>
              <a:srgbClr val="F4F4F4"/>
            </a:solidFill>
            <a:prstDash val="solid"/>
          </a:ln>
          <a:effectLst>
            <a:outerShdw blurRad="889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 txBox="1"/>
          <p:nvPr/>
        </p:nvSpPr>
        <p:spPr>
          <a:xfrm>
            <a:off x="6629400" y="4325112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C112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Untrustable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6629400" y="4754880"/>
            <a:ext cx="45720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11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standard way</a:t>
            </a: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to say where a fact came from, who checked it, or whether it is still true.</a:t>
            </a:r>
            <a:endParaRPr lang="en-US" sz="1400" dirty="0"/>
          </a:p>
        </p:txBody>
      </p:sp>
      <p:sp>
        <p:nvSpPr>
          <p:cNvPr id="16" name="Agenda 16"/>
          <p:cNvSpPr txBox="1"/>
          <p:nvPr/>
        </p:nvSpPr>
        <p:spPr>
          <a:xfrm>
            <a:off x="648000" y="136800"/>
            <a:ext cx="2439000" cy="1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spc="100" dirty="0">
                <a:solidFill>
                  <a:srgbClr val="C1121F"/>
                </a:solidFill>
                <a:latin typeface="Calibri"/>
                <a:ea typeface="Calibri"/>
                <a:cs typeface="Calibri"/>
              </a:rPr>
              <a:t>01  CONTEXT ENGINEERING</a:t>
            </a:r>
          </a:p>
        </p:txBody>
      </p:sp>
      <p:sp>
        <p:nvSpPr>
          <p:cNvPr id="17" name="Agenda 17"/>
          <p:cNvSpPr/>
          <p:nvPr/>
        </p:nvSpPr>
        <p:spPr>
          <a:xfrm>
            <a:off x="648000" y="331200"/>
            <a:ext cx="2439000" cy="43200"/>
          </a:xfrm>
          <a:prstGeom prst="rect">
            <a:avLst/>
          </a:prstGeom>
          <a:solidFill>
            <a:srgbClr val="C1121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8" name="Agenda 18"/>
          <p:cNvSpPr txBox="1"/>
          <p:nvPr/>
        </p:nvSpPr>
        <p:spPr>
          <a:xfrm>
            <a:off x="3195000" y="136800"/>
            <a:ext cx="2439000" cy="1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spc="100" dirty="0">
                <a:solidFill>
                  <a:srgbClr val="9A9A9A"/>
                </a:solidFill>
                <a:latin typeface="Calibri"/>
                <a:ea typeface="Calibri"/>
                <a:cs typeface="Calibri"/>
              </a:rPr>
              <a:t>02  </a:t>
            </a:r>
            <a:r>
              <a:rPr lang="en-US" sz="850" spc="100" dirty="0">
                <a:solidFill>
                  <a:srgbClr val="9A9A9A"/>
                </a:solidFill>
                <a:latin typeface="Calibri"/>
                <a:ea typeface="Calibri"/>
                <a:cs typeface="Calibri"/>
              </a:rPr>
              <a:t>LLM WIKI</a:t>
            </a:r>
          </a:p>
        </p:txBody>
      </p:sp>
      <p:sp>
        <p:nvSpPr>
          <p:cNvPr id="19" name="Agenda 19"/>
          <p:cNvSpPr/>
          <p:nvPr/>
        </p:nvSpPr>
        <p:spPr>
          <a:xfrm>
            <a:off x="3195000" y="331200"/>
            <a:ext cx="2439000" cy="21600"/>
          </a:xfrm>
          <a:prstGeom prst="rect">
            <a:avLst/>
          </a:prstGeom>
          <a:solidFill>
            <a:srgbClr val="E2E2E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" name="Agenda 20"/>
          <p:cNvSpPr txBox="1"/>
          <p:nvPr/>
        </p:nvSpPr>
        <p:spPr>
          <a:xfrm>
            <a:off x="5742000" y="136800"/>
            <a:ext cx="2439000" cy="1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spc="100" dirty="0">
                <a:solidFill>
                  <a:srgbClr val="9A9A9A"/>
                </a:solidFill>
                <a:latin typeface="Calibri"/>
                <a:ea typeface="Calibri"/>
                <a:cs typeface="Calibri"/>
              </a:rPr>
              <a:t>03  </a:t>
            </a:r>
            <a:r>
              <a:rPr lang="en-US" sz="850" spc="100" dirty="0">
                <a:solidFill>
                  <a:srgbClr val="9A9A9A"/>
                </a:solidFill>
                <a:latin typeface="Calibri"/>
                <a:ea typeface="Calibri"/>
                <a:cs typeface="Calibri"/>
              </a:rPr>
              <a:t>OKF PRODUCT DOCUMENTATION</a:t>
            </a:r>
          </a:p>
        </p:txBody>
      </p:sp>
      <p:sp>
        <p:nvSpPr>
          <p:cNvPr id="21" name="Agenda 21"/>
          <p:cNvSpPr/>
          <p:nvPr/>
        </p:nvSpPr>
        <p:spPr>
          <a:xfrm>
            <a:off x="5742000" y="331200"/>
            <a:ext cx="2439000" cy="21600"/>
          </a:xfrm>
          <a:prstGeom prst="rect">
            <a:avLst/>
          </a:prstGeom>
          <a:solidFill>
            <a:srgbClr val="E2E2E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2" name="Agenda 22"/>
          <p:cNvSpPr txBox="1"/>
          <p:nvPr/>
        </p:nvSpPr>
        <p:spPr>
          <a:xfrm>
            <a:off x="8289000" y="136800"/>
            <a:ext cx="2439000" cy="1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spc="100" dirty="0">
                <a:solidFill>
                  <a:srgbClr val="9A9A9A"/>
                </a:solidFill>
                <a:latin typeface="Calibri"/>
                <a:ea typeface="Calibri"/>
                <a:cs typeface="Calibri"/>
              </a:rPr>
              <a:t>04  </a:t>
            </a:r>
            <a:r>
              <a:rPr lang="en-US" sz="850" spc="100" dirty="0">
                <a:solidFill>
                  <a:srgbClr val="9A9A9A"/>
                </a:solidFill>
                <a:latin typeface="Calibri"/>
                <a:ea typeface="Calibri"/>
                <a:cs typeface="Calibri"/>
              </a:rPr>
              <a:t>CONCLUSION</a:t>
            </a:r>
          </a:p>
        </p:txBody>
      </p:sp>
      <p:sp>
        <p:nvSpPr>
          <p:cNvPr id="23" name="Agenda 23"/>
          <p:cNvSpPr/>
          <p:nvPr/>
        </p:nvSpPr>
        <p:spPr>
          <a:xfrm>
            <a:off x="8289000" y="331200"/>
            <a:ext cx="2439000" cy="21600"/>
          </a:xfrm>
          <a:prstGeom prst="rect">
            <a:avLst/>
          </a:prstGeom>
          <a:solidFill>
            <a:srgbClr val="E2E2E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8856000" y="-1152000"/>
            <a:ext cx="4932000" cy="4932000"/>
          </a:xfrm>
          <a:prstGeom prst="ellipse">
            <a:avLst/>
          </a:prstGeom>
          <a:solidFill>
            <a:srgbClr val="C1121F"/>
          </a:solidFill>
          <a:ln w="12700">
            <a:solidFill>
              <a:srgbClr val="C1121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3"/>
          <p:cNvSpPr/>
          <p:nvPr/>
        </p:nvSpPr>
        <p:spPr>
          <a:xfrm>
            <a:off x="10692000" y="4392000"/>
            <a:ext cx="2916000" cy="2916000"/>
          </a:xfrm>
          <a:prstGeom prst="ellipse">
            <a:avLst/>
          </a:prstGeom>
          <a:solidFill>
            <a:srgbClr val="8B0D14"/>
          </a:solidFill>
          <a:ln w="12700">
            <a:solidFill>
              <a:srgbClr val="8B0D14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5"/>
          <p:cNvSpPr txBox="1"/>
          <p:nvPr/>
        </p:nvSpPr>
        <p:spPr>
          <a:xfrm>
            <a:off x="828000" y="2088000"/>
            <a:ext cx="7740000" cy="86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spc="0" dirty="0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LLM Wiki</a:t>
            </a:r>
          </a:p>
        </p:txBody>
      </p:sp>
      <p:sp>
        <p:nvSpPr>
          <p:cNvPr id="6" name="Text 6"/>
          <p:cNvSpPr txBox="1"/>
          <p:nvPr/>
        </p:nvSpPr>
        <p:spPr>
          <a:xfrm>
            <a:off x="828000" y="2952000"/>
            <a:ext cx="7740000" cy="43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spc="0" dirty="0">
                <a:solidFill>
                  <a:srgbClr val="D6D6D6"/>
                </a:solidFill>
                <a:latin typeface="Calibri"/>
                <a:ea typeface="Calibri"/>
                <a:cs typeface="Calibri"/>
              </a:rPr>
              <a:t>Compiling knowledge once into linked pages — and a working example</a:t>
            </a:r>
          </a:p>
        </p:txBody>
      </p:sp>
      <p:sp>
        <p:nvSpPr>
          <p:cNvPr id="7" name="Agenda 7"/>
          <p:cNvSpPr/>
          <p:nvPr/>
        </p:nvSpPr>
        <p:spPr>
          <a:xfrm>
            <a:off x="828000" y="3672000"/>
            <a:ext cx="936000" cy="43200"/>
          </a:xfrm>
          <a:prstGeom prst="rect">
            <a:avLst/>
          </a:prstGeom>
          <a:solidFill>
            <a:srgbClr val="C1121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" name="Agenda 8"/>
          <p:cNvSpPr txBox="1"/>
          <p:nvPr/>
        </p:nvSpPr>
        <p:spPr>
          <a:xfrm>
            <a:off x="1044000" y="4032000"/>
            <a:ext cx="576000" cy="3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spc="0" dirty="0">
                <a:solidFill>
                  <a:srgbClr val="6E6E6E"/>
                </a:solidFill>
                <a:latin typeface="Cambria"/>
                <a:ea typeface="Cambria"/>
                <a:cs typeface="Cambria"/>
              </a:rPr>
              <a:t>01</a:t>
            </a:r>
          </a:p>
        </p:txBody>
      </p:sp>
      <p:sp>
        <p:nvSpPr>
          <p:cNvPr id="9" name="Agenda 9"/>
          <p:cNvSpPr txBox="1"/>
          <p:nvPr/>
        </p:nvSpPr>
        <p:spPr>
          <a:xfrm>
            <a:off x="1584000" y="4032000"/>
            <a:ext cx="6480000" cy="3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spc="0" dirty="0">
                <a:solidFill>
                  <a:srgbClr val="8A8A8A"/>
                </a:solidFill>
                <a:latin typeface="Calibri"/>
                <a:ea typeface="Calibri"/>
                <a:cs typeface="Calibri"/>
              </a:rPr>
              <a:t>Context Engineering</a:t>
            </a:r>
          </a:p>
        </p:txBody>
      </p:sp>
      <p:sp>
        <p:nvSpPr>
          <p:cNvPr id="10" name="Agenda 10"/>
          <p:cNvSpPr/>
          <p:nvPr/>
        </p:nvSpPr>
        <p:spPr>
          <a:xfrm>
            <a:off x="828000" y="4525200"/>
            <a:ext cx="43200" cy="273600"/>
          </a:xfrm>
          <a:prstGeom prst="rect">
            <a:avLst/>
          </a:prstGeom>
          <a:solidFill>
            <a:srgbClr val="C1121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" name="Agenda 11"/>
          <p:cNvSpPr txBox="1"/>
          <p:nvPr/>
        </p:nvSpPr>
        <p:spPr>
          <a:xfrm>
            <a:off x="1044000" y="4482000"/>
            <a:ext cx="576000" cy="3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spc="0" dirty="0">
                <a:solidFill>
                  <a:srgbClr val="C1121F"/>
                </a:solidFill>
                <a:latin typeface="Cambria"/>
                <a:ea typeface="Cambria"/>
                <a:cs typeface="Cambria"/>
              </a:rPr>
              <a:t>02</a:t>
            </a:r>
          </a:p>
        </p:txBody>
      </p:sp>
      <p:sp>
        <p:nvSpPr>
          <p:cNvPr id="12" name="Agenda 12"/>
          <p:cNvSpPr txBox="1"/>
          <p:nvPr/>
        </p:nvSpPr>
        <p:spPr>
          <a:xfrm>
            <a:off x="1584000" y="4482000"/>
            <a:ext cx="6480000" cy="3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spc="0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LLM Wiki</a:t>
            </a:r>
          </a:p>
        </p:txBody>
      </p:sp>
      <p:sp>
        <p:nvSpPr>
          <p:cNvPr id="13" name="Agenda 13"/>
          <p:cNvSpPr txBox="1"/>
          <p:nvPr/>
        </p:nvSpPr>
        <p:spPr>
          <a:xfrm>
            <a:off x="1044000" y="4932000"/>
            <a:ext cx="576000" cy="3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spc="0" dirty="0">
                <a:solidFill>
                  <a:srgbClr val="6E6E6E"/>
                </a:solidFill>
                <a:latin typeface="Cambria"/>
                <a:ea typeface="Cambria"/>
                <a:cs typeface="Cambria"/>
              </a:rPr>
              <a:t>03</a:t>
            </a:r>
          </a:p>
        </p:txBody>
      </p:sp>
      <p:sp>
        <p:nvSpPr>
          <p:cNvPr id="14" name="Agenda 14"/>
          <p:cNvSpPr txBox="1"/>
          <p:nvPr/>
        </p:nvSpPr>
        <p:spPr>
          <a:xfrm>
            <a:off x="1584000" y="4932000"/>
            <a:ext cx="6480000" cy="3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spc="0" dirty="0">
                <a:solidFill>
                  <a:srgbClr val="8A8A8A"/>
                </a:solidFill>
                <a:latin typeface="Calibri"/>
                <a:ea typeface="Calibri"/>
                <a:cs typeface="Calibri"/>
              </a:rPr>
              <a:t>OKF Product Documentation</a:t>
            </a:r>
          </a:p>
        </p:txBody>
      </p:sp>
      <p:sp>
        <p:nvSpPr>
          <p:cNvPr id="15" name="Agenda 15"/>
          <p:cNvSpPr txBox="1"/>
          <p:nvPr/>
        </p:nvSpPr>
        <p:spPr>
          <a:xfrm>
            <a:off x="1044000" y="5382000"/>
            <a:ext cx="576000" cy="3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spc="0" dirty="0">
                <a:solidFill>
                  <a:srgbClr val="6E6E6E"/>
                </a:solidFill>
                <a:latin typeface="Cambria"/>
                <a:ea typeface="Cambria"/>
                <a:cs typeface="Cambria"/>
              </a:rPr>
              <a:t>04</a:t>
            </a:r>
          </a:p>
        </p:txBody>
      </p:sp>
      <p:sp>
        <p:nvSpPr>
          <p:cNvPr id="16" name="Agenda 16"/>
          <p:cNvSpPr txBox="1"/>
          <p:nvPr/>
        </p:nvSpPr>
        <p:spPr>
          <a:xfrm>
            <a:off x="1584000" y="5382000"/>
            <a:ext cx="6480000" cy="3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spc="0" dirty="0">
                <a:solidFill>
                  <a:srgbClr val="8A8A8A"/>
                </a:solidFill>
                <a:latin typeface="Calibri"/>
                <a:ea typeface="Calibri"/>
                <a:cs typeface="Calibri"/>
              </a:rPr>
              <a:t>Conclusion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414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LLM wiki pattern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115568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Andrej Karpathy, GitHub gist, April 2026 — an “idea file”, not a product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691640"/>
            <a:ext cx="5212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11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layers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2103120"/>
            <a:ext cx="5212080" cy="1051560"/>
          </a:xfrm>
          <a:prstGeom prst="roundRect">
            <a:avLst>
              <a:gd name="adj" fmla="val 5217"/>
            </a:avLst>
          </a:prstGeom>
          <a:solidFill>
            <a:srgbClr val="EAEAEA"/>
          </a:solidFill>
          <a:ln w="12700">
            <a:solidFill>
              <a:srgbClr val="EAEAEA"/>
            </a:solidFill>
            <a:prstDash val="solid"/>
          </a:ln>
          <a:effectLst>
            <a:outerShdw blurRad="889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914400" y="2231136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raw/</a:t>
            </a:r>
            <a:endParaRPr lang="en-US" sz="145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2532888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11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Immutable</a:t>
            </a:r>
            <a:r>
              <a:rPr lang="en-US" sz="12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source material. Dropped in, never edited.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40080" y="3291840"/>
            <a:ext cx="5212080" cy="1051560"/>
          </a:xfrm>
          <a:prstGeom prst="roundRect">
            <a:avLst>
              <a:gd name="adj" fmla="val 5217"/>
            </a:avLst>
          </a:prstGeom>
          <a:solidFill>
            <a:srgbClr val="EAEAEA"/>
          </a:solidFill>
          <a:ln w="12700">
            <a:solidFill>
              <a:srgbClr val="EAEAEA"/>
            </a:solidFill>
            <a:prstDash val="solid"/>
          </a:ln>
          <a:effectLst>
            <a:outerShdw blurRad="889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914400" y="3419856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wiki/</a:t>
            </a:r>
            <a:endParaRPr lang="en-US" sz="1450" dirty="0"/>
          </a:p>
        </p:txBody>
      </p:sp>
      <p:sp>
        <p:nvSpPr>
          <p:cNvPr id="10" name="Text 8"/>
          <p:cNvSpPr txBox="1"/>
          <p:nvPr/>
        </p:nvSpPr>
        <p:spPr>
          <a:xfrm>
            <a:off x="914400" y="3721608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11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LLM-written markdown</a:t>
            </a:r>
            <a:r>
              <a:rPr lang="en-US" sz="12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concept and entity pages and cross-links, plus </a:t>
            </a:r>
            <a:r>
              <a:rPr lang="en-US" sz="1200" b="1" dirty="0">
                <a:solidFill>
                  <a:srgbClr val="C11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index.md</a:t>
            </a:r>
            <a:r>
              <a:rPr lang="en-US" sz="12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(read first at query time) and log.md.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" y="4480560"/>
            <a:ext cx="5212080" cy="1051560"/>
          </a:xfrm>
          <a:prstGeom prst="roundRect">
            <a:avLst>
              <a:gd name="adj" fmla="val 5217"/>
            </a:avLst>
          </a:prstGeom>
          <a:solidFill>
            <a:srgbClr val="EAEAEA"/>
          </a:solidFill>
          <a:ln w="12700">
            <a:solidFill>
              <a:srgbClr val="EAEAEA"/>
            </a:solidFill>
            <a:prstDash val="solid"/>
          </a:ln>
          <a:effectLst>
            <a:outerShdw blurRad="889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914400" y="4608576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</a:t>
            </a:r>
            <a:endParaRPr lang="en-US" sz="1450" dirty="0"/>
          </a:p>
        </p:txBody>
      </p:sp>
      <p:sp>
        <p:nvSpPr>
          <p:cNvPr id="13" name="Text 11"/>
          <p:cNvSpPr txBox="1"/>
          <p:nvPr/>
        </p:nvSpPr>
        <p:spPr>
          <a:xfrm>
            <a:off x="914400" y="4910328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document such as </a:t>
            </a:r>
            <a:r>
              <a:rPr lang="en-US" sz="1200" b="1" dirty="0">
                <a:solidFill>
                  <a:srgbClr val="C11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CLAUDE.md or AGENTS.md</a:t>
            </a:r>
            <a:r>
              <a:rPr lang="en-US" sz="12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the structure, conventions and workflows the agent follows.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6309360" y="1691640"/>
            <a:ext cx="5212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11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operations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309360" y="2157984"/>
            <a:ext cx="384048" cy="384048"/>
          </a:xfrm>
          <a:prstGeom prst="ellipse">
            <a:avLst/>
          </a:prstGeom>
          <a:solidFill>
            <a:srgbClr val="C1121F"/>
          </a:solidFill>
          <a:ln w="12700">
            <a:solidFill>
              <a:srgbClr val="C1121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 txBox="1"/>
          <p:nvPr/>
        </p:nvSpPr>
        <p:spPr>
          <a:xfrm>
            <a:off x="6309360" y="21579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6858000" y="210312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</a:t>
            </a:r>
            <a:endParaRPr lang="en-US" sz="1450" dirty="0"/>
          </a:p>
        </p:txBody>
      </p:sp>
      <p:sp>
        <p:nvSpPr>
          <p:cNvPr id="18" name="Text 16"/>
          <p:cNvSpPr txBox="1"/>
          <p:nvPr/>
        </p:nvSpPr>
        <p:spPr>
          <a:xfrm>
            <a:off x="6858000" y="2404872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new source arrives. The agent writes a summary page, then </a:t>
            </a:r>
            <a:r>
              <a:rPr lang="en-US" sz="1200" b="1" dirty="0">
                <a:solidFill>
                  <a:srgbClr val="C11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updates the pages it affects</a:t>
            </a:r>
            <a:r>
              <a:rPr lang="en-US" sz="12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one source can touch ten to fifteen — and logs it.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309360" y="3346704"/>
            <a:ext cx="384048" cy="384048"/>
          </a:xfrm>
          <a:prstGeom prst="ellipse">
            <a:avLst/>
          </a:prstGeom>
          <a:solidFill>
            <a:srgbClr val="141414"/>
          </a:solidFill>
          <a:ln w="12700">
            <a:solidFill>
              <a:srgbClr val="14141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 txBox="1"/>
          <p:nvPr/>
        </p:nvSpPr>
        <p:spPr>
          <a:xfrm>
            <a:off x="6309360" y="33467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6858000" y="329184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</a:t>
            </a:r>
            <a:endParaRPr lang="en-US" sz="1450" dirty="0"/>
          </a:p>
        </p:txBody>
      </p:sp>
      <p:sp>
        <p:nvSpPr>
          <p:cNvPr id="22" name="Text 20"/>
          <p:cNvSpPr txBox="1"/>
          <p:nvPr/>
        </p:nvSpPr>
        <p:spPr>
          <a:xfrm>
            <a:off x="6858000" y="3593592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ask the wiki, not the raw corpus. Good answers get </a:t>
            </a:r>
            <a:r>
              <a:rPr lang="en-US" sz="1200" b="1" dirty="0">
                <a:solidFill>
                  <a:srgbClr val="C11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filed back as new pages</a:t>
            </a:r>
            <a:r>
              <a:rPr lang="en-US" sz="12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309360" y="4535424"/>
            <a:ext cx="384048" cy="384048"/>
          </a:xfrm>
          <a:prstGeom prst="ellipse">
            <a:avLst/>
          </a:prstGeom>
          <a:solidFill>
            <a:srgbClr val="C1121F"/>
          </a:solidFill>
          <a:ln w="12700">
            <a:solidFill>
              <a:srgbClr val="C1121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 txBox="1"/>
          <p:nvPr/>
        </p:nvSpPr>
        <p:spPr>
          <a:xfrm>
            <a:off x="6309360" y="45354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6858000" y="448056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Lint</a:t>
            </a:r>
            <a:endParaRPr lang="en-US" sz="1450" dirty="0"/>
          </a:p>
        </p:txBody>
      </p:sp>
      <p:sp>
        <p:nvSpPr>
          <p:cNvPr id="26" name="Text 24"/>
          <p:cNvSpPr txBox="1"/>
          <p:nvPr/>
        </p:nvSpPr>
        <p:spPr>
          <a:xfrm>
            <a:off x="6858000" y="4782312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Maintenance pass: contradictions, stale pages, broken links, </a:t>
            </a:r>
            <a:r>
              <a:rPr lang="en-US" sz="1200" b="1" dirty="0">
                <a:solidFill>
                  <a:srgbClr val="C11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drift from the schema</a:t>
            </a:r>
            <a:r>
              <a:rPr lang="en-US" sz="12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40080" y="5669280"/>
            <a:ext cx="10881360" cy="777240"/>
          </a:xfrm>
          <a:prstGeom prst="roundRect">
            <a:avLst>
              <a:gd name="adj" fmla="val 7059"/>
            </a:avLst>
          </a:prstGeom>
          <a:solidFill>
            <a:srgbClr val="C1121F"/>
          </a:solidFill>
          <a:ln w="12700">
            <a:solidFill>
              <a:srgbClr val="C1121F"/>
            </a:solidFill>
            <a:prstDash val="solid"/>
          </a:ln>
          <a:effectLst>
            <a:outerShdw blurRad="889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 txBox="1"/>
          <p:nvPr/>
        </p:nvSpPr>
        <p:spPr>
          <a:xfrm>
            <a:off x="960120" y="5669280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extension — validation on ingest:  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proposed feature is checked against the recorded system design, process rules and constraints </a:t>
            </a: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it lands. Conflicts come back as questions — so the wiki </a:t>
            </a: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guides the next design step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instead of only storing the last one.</a:t>
            </a:r>
            <a:endParaRPr lang="en-US" sz="1300" dirty="0"/>
          </a:p>
        </p:txBody>
      </p:sp>
      <p:sp>
        <p:nvSpPr>
          <p:cNvPr id="29" name="Agenda 29"/>
          <p:cNvSpPr txBox="1"/>
          <p:nvPr/>
        </p:nvSpPr>
        <p:spPr>
          <a:xfrm>
            <a:off x="648000" y="136800"/>
            <a:ext cx="2439000" cy="1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spc="100" dirty="0">
                <a:solidFill>
                  <a:srgbClr val="9A9A9A"/>
                </a:solidFill>
                <a:latin typeface="Calibri"/>
                <a:ea typeface="Calibri"/>
                <a:cs typeface="Calibri"/>
              </a:rPr>
              <a:t>01  </a:t>
            </a:r>
            <a:r>
              <a:rPr lang="en-US" sz="850" spc="100" dirty="0">
                <a:solidFill>
                  <a:srgbClr val="9A9A9A"/>
                </a:solidFill>
                <a:latin typeface="Calibri"/>
                <a:ea typeface="Calibri"/>
                <a:cs typeface="Calibri"/>
              </a:rPr>
              <a:t>CONTEXT ENGINEERING</a:t>
            </a:r>
          </a:p>
        </p:txBody>
      </p:sp>
      <p:sp>
        <p:nvSpPr>
          <p:cNvPr id="30" name="Agenda 30"/>
          <p:cNvSpPr/>
          <p:nvPr/>
        </p:nvSpPr>
        <p:spPr>
          <a:xfrm>
            <a:off x="648000" y="331200"/>
            <a:ext cx="2439000" cy="21600"/>
          </a:xfrm>
          <a:prstGeom prst="rect">
            <a:avLst/>
          </a:prstGeom>
          <a:solidFill>
            <a:srgbClr val="E2E2E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1" name="Agenda 31"/>
          <p:cNvSpPr txBox="1"/>
          <p:nvPr/>
        </p:nvSpPr>
        <p:spPr>
          <a:xfrm>
            <a:off x="3195000" y="136800"/>
            <a:ext cx="2439000" cy="1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spc="100" dirty="0">
                <a:solidFill>
                  <a:srgbClr val="C1121F"/>
                </a:solidFill>
                <a:latin typeface="Calibri"/>
                <a:ea typeface="Calibri"/>
                <a:cs typeface="Calibri"/>
              </a:rPr>
              <a:t>02  LLM WIKI</a:t>
            </a:r>
          </a:p>
        </p:txBody>
      </p:sp>
      <p:sp>
        <p:nvSpPr>
          <p:cNvPr id="32" name="Agenda 32"/>
          <p:cNvSpPr/>
          <p:nvPr/>
        </p:nvSpPr>
        <p:spPr>
          <a:xfrm>
            <a:off x="3195000" y="331200"/>
            <a:ext cx="2439000" cy="43200"/>
          </a:xfrm>
          <a:prstGeom prst="rect">
            <a:avLst/>
          </a:prstGeom>
          <a:solidFill>
            <a:srgbClr val="C1121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3" name="Agenda 33"/>
          <p:cNvSpPr txBox="1"/>
          <p:nvPr/>
        </p:nvSpPr>
        <p:spPr>
          <a:xfrm>
            <a:off x="5742000" y="136800"/>
            <a:ext cx="2439000" cy="1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spc="100" dirty="0">
                <a:solidFill>
                  <a:srgbClr val="9A9A9A"/>
                </a:solidFill>
                <a:latin typeface="Calibri"/>
                <a:ea typeface="Calibri"/>
                <a:cs typeface="Calibri"/>
              </a:rPr>
              <a:t>03  </a:t>
            </a:r>
            <a:r>
              <a:rPr lang="en-US" sz="850" spc="100" dirty="0">
                <a:solidFill>
                  <a:srgbClr val="9A9A9A"/>
                </a:solidFill>
                <a:latin typeface="Calibri"/>
                <a:ea typeface="Calibri"/>
                <a:cs typeface="Calibri"/>
              </a:rPr>
              <a:t>OKF PRODUCT DOCUMENTATION</a:t>
            </a:r>
          </a:p>
        </p:txBody>
      </p:sp>
      <p:sp>
        <p:nvSpPr>
          <p:cNvPr id="34" name="Agenda 34"/>
          <p:cNvSpPr/>
          <p:nvPr/>
        </p:nvSpPr>
        <p:spPr>
          <a:xfrm>
            <a:off x="5742000" y="331200"/>
            <a:ext cx="2439000" cy="21600"/>
          </a:xfrm>
          <a:prstGeom prst="rect">
            <a:avLst/>
          </a:prstGeom>
          <a:solidFill>
            <a:srgbClr val="E2E2E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5" name="Agenda 35"/>
          <p:cNvSpPr txBox="1"/>
          <p:nvPr/>
        </p:nvSpPr>
        <p:spPr>
          <a:xfrm>
            <a:off x="8289000" y="136800"/>
            <a:ext cx="2439000" cy="1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spc="100" dirty="0">
                <a:solidFill>
                  <a:srgbClr val="9A9A9A"/>
                </a:solidFill>
                <a:latin typeface="Calibri"/>
                <a:ea typeface="Calibri"/>
                <a:cs typeface="Calibri"/>
              </a:rPr>
              <a:t>04  </a:t>
            </a:r>
            <a:r>
              <a:rPr lang="en-US" sz="850" spc="100" dirty="0">
                <a:solidFill>
                  <a:srgbClr val="9A9A9A"/>
                </a:solidFill>
                <a:latin typeface="Calibri"/>
                <a:ea typeface="Calibri"/>
                <a:cs typeface="Calibri"/>
              </a:rPr>
              <a:t>CONCLUSION</a:t>
            </a:r>
          </a:p>
        </p:txBody>
      </p:sp>
      <p:sp>
        <p:nvSpPr>
          <p:cNvPr id="36" name="Agenda 36"/>
          <p:cNvSpPr/>
          <p:nvPr/>
        </p:nvSpPr>
        <p:spPr>
          <a:xfrm>
            <a:off x="8289000" y="331200"/>
            <a:ext cx="2439000" cy="21600"/>
          </a:xfrm>
          <a:prstGeom prst="rect">
            <a:avLst/>
          </a:prstGeom>
          <a:solidFill>
            <a:srgbClr val="E2E2E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414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the wiki is maintained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115568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loop, not a project — and it runs on git, so every step is a reviewable diff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2880360" y="1554480"/>
            <a:ext cx="4160520" cy="310896"/>
          </a:xfrm>
          <a:prstGeom prst="roundRect">
            <a:avLst>
              <a:gd name="adj" fmla="val 35294"/>
            </a:avLst>
          </a:prstGeom>
          <a:solidFill>
            <a:srgbClr val="C1121F"/>
          </a:solidFill>
          <a:ln w="12700">
            <a:solidFill>
              <a:srgbClr val="C1121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2880360" y="1554480"/>
            <a:ext cx="4160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Frontier model  ·  paid once per source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40080" y="1965960"/>
            <a:ext cx="1920240" cy="1417320"/>
          </a:xfrm>
          <a:prstGeom prst="roundRect">
            <a:avLst>
              <a:gd name="adj" fmla="val 3871"/>
            </a:avLst>
          </a:prstGeom>
          <a:solidFill>
            <a:srgbClr val="EAEAEA"/>
          </a:solidFill>
          <a:ln w="12700">
            <a:solidFill>
              <a:srgbClr val="EAEAEA"/>
            </a:solidFill>
            <a:prstDash val="solid"/>
          </a:ln>
          <a:effectLst>
            <a:outerShdw blurRad="889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804672" y="2103120"/>
            <a:ext cx="274320" cy="274320"/>
          </a:xfrm>
          <a:prstGeom prst="ellipse">
            <a:avLst/>
          </a:prstGeom>
          <a:solidFill>
            <a:srgbClr val="141414"/>
          </a:solidFill>
          <a:ln w="12700">
            <a:solidFill>
              <a:srgbClr val="14141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804672" y="21031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1143000" y="210312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raw/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804672" y="2487168"/>
            <a:ext cx="1600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source is committed as-is. Immutable, never edited.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596896" y="2542032"/>
            <a:ext cx="246888" cy="256032"/>
          </a:xfrm>
          <a:prstGeom prst="rightArrow">
            <a:avLst/>
          </a:prstGeom>
          <a:solidFill>
            <a:srgbClr val="C1121F"/>
          </a:solidFill>
          <a:ln w="12700">
            <a:solidFill>
              <a:srgbClr val="C1121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2880360" y="1965960"/>
            <a:ext cx="1920240" cy="1417320"/>
          </a:xfrm>
          <a:prstGeom prst="roundRect">
            <a:avLst>
              <a:gd name="adj" fmla="val 3871"/>
            </a:avLst>
          </a:prstGeom>
          <a:solidFill>
            <a:srgbClr val="F4F4F4"/>
          </a:solidFill>
          <a:ln w="12700">
            <a:solidFill>
              <a:srgbClr val="F4F4F4"/>
            </a:solidFill>
            <a:prstDash val="solid"/>
          </a:ln>
          <a:effectLst>
            <a:outerShdw blurRad="889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3044952" y="2103120"/>
            <a:ext cx="274320" cy="274320"/>
          </a:xfrm>
          <a:prstGeom prst="ellipse">
            <a:avLst/>
          </a:prstGeom>
          <a:solidFill>
            <a:srgbClr val="C1121F"/>
          </a:solidFill>
          <a:ln w="12700">
            <a:solidFill>
              <a:srgbClr val="C1121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 txBox="1"/>
          <p:nvPr/>
        </p:nvSpPr>
        <p:spPr>
          <a:xfrm>
            <a:off x="3044952" y="21031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3383280" y="210312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C11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 + validate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3044952" y="2487168"/>
            <a:ext cx="1600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checks it against the schema and the design rules already recorded.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837176" y="2542032"/>
            <a:ext cx="246888" cy="256032"/>
          </a:xfrm>
          <a:prstGeom prst="rightArrow">
            <a:avLst/>
          </a:prstGeom>
          <a:solidFill>
            <a:srgbClr val="C1121F"/>
          </a:solidFill>
          <a:ln w="12700">
            <a:solidFill>
              <a:srgbClr val="C1121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5120640" y="1965960"/>
            <a:ext cx="1920240" cy="1417320"/>
          </a:xfrm>
          <a:prstGeom prst="roundRect">
            <a:avLst>
              <a:gd name="adj" fmla="val 3871"/>
            </a:avLst>
          </a:prstGeom>
          <a:solidFill>
            <a:srgbClr val="EAEAEA"/>
          </a:solidFill>
          <a:ln w="12700">
            <a:solidFill>
              <a:srgbClr val="EAEAEA"/>
            </a:solidFill>
            <a:prstDash val="solid"/>
          </a:ln>
          <a:effectLst>
            <a:outerShdw blurRad="889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5285232" y="2103120"/>
            <a:ext cx="274320" cy="274320"/>
          </a:xfrm>
          <a:prstGeom prst="ellipse">
            <a:avLst/>
          </a:prstGeom>
          <a:solidFill>
            <a:srgbClr val="141414"/>
          </a:solidFill>
          <a:ln w="12700">
            <a:solidFill>
              <a:srgbClr val="14141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 txBox="1"/>
          <p:nvPr/>
        </p:nvSpPr>
        <p:spPr>
          <a:xfrm>
            <a:off x="5285232" y="21031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5623560" y="210312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Compile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5285232" y="2487168"/>
            <a:ext cx="1600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the affected concept pages, cross-links, index.md and log.md are rewritten.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7077456" y="2542032"/>
            <a:ext cx="246888" cy="256032"/>
          </a:xfrm>
          <a:prstGeom prst="rightArrow">
            <a:avLst/>
          </a:prstGeom>
          <a:solidFill>
            <a:srgbClr val="C1121F"/>
          </a:solidFill>
          <a:ln w="12700">
            <a:solidFill>
              <a:srgbClr val="C1121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7360920" y="1965960"/>
            <a:ext cx="1920240" cy="1417320"/>
          </a:xfrm>
          <a:prstGeom prst="roundRect">
            <a:avLst>
              <a:gd name="adj" fmla="val 3871"/>
            </a:avLst>
          </a:prstGeom>
          <a:solidFill>
            <a:srgbClr val="F4F4F4"/>
          </a:solidFill>
          <a:ln w="12700">
            <a:solidFill>
              <a:srgbClr val="F4F4F4"/>
            </a:solidFill>
            <a:prstDash val="solid"/>
          </a:ln>
          <a:effectLst>
            <a:outerShdw blurRad="889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7525512" y="2103120"/>
            <a:ext cx="274320" cy="274320"/>
          </a:xfrm>
          <a:prstGeom prst="ellipse">
            <a:avLst/>
          </a:prstGeom>
          <a:solidFill>
            <a:srgbClr val="141414"/>
          </a:solidFill>
          <a:ln w="12700">
            <a:solidFill>
              <a:srgbClr val="14141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 txBox="1"/>
          <p:nvPr/>
        </p:nvSpPr>
        <p:spPr>
          <a:xfrm>
            <a:off x="7525512" y="21031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27" name="Text 25"/>
          <p:cNvSpPr txBox="1"/>
          <p:nvPr/>
        </p:nvSpPr>
        <p:spPr>
          <a:xfrm>
            <a:off x="7863840" y="210312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request</a:t>
            </a:r>
            <a:endParaRPr lang="en-US" sz="1250" dirty="0"/>
          </a:p>
        </p:txBody>
      </p:sp>
      <p:sp>
        <p:nvSpPr>
          <p:cNvPr id="28" name="Text 26"/>
          <p:cNvSpPr txBox="1"/>
          <p:nvPr/>
        </p:nvSpPr>
        <p:spPr>
          <a:xfrm>
            <a:off x="7525512" y="2487168"/>
            <a:ext cx="1600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 reviewed like code. Sign-off written back as verified: human:&lt;id&gt;.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9317736" y="2542032"/>
            <a:ext cx="246888" cy="256032"/>
          </a:xfrm>
          <a:prstGeom prst="rightArrow">
            <a:avLst/>
          </a:prstGeom>
          <a:solidFill>
            <a:srgbClr val="C1121F"/>
          </a:solidFill>
          <a:ln w="12700">
            <a:solidFill>
              <a:srgbClr val="C1121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9601200" y="1965960"/>
            <a:ext cx="1920240" cy="1417320"/>
          </a:xfrm>
          <a:prstGeom prst="roundRect">
            <a:avLst>
              <a:gd name="adj" fmla="val 3871"/>
            </a:avLst>
          </a:prstGeom>
          <a:solidFill>
            <a:srgbClr val="EAEAEA"/>
          </a:solidFill>
          <a:ln w="12700">
            <a:solidFill>
              <a:srgbClr val="EAEAEA"/>
            </a:solidFill>
            <a:prstDash val="solid"/>
          </a:ln>
          <a:effectLst>
            <a:outerShdw blurRad="889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9765792" y="2103120"/>
            <a:ext cx="274320" cy="274320"/>
          </a:xfrm>
          <a:prstGeom prst="ellipse">
            <a:avLst/>
          </a:prstGeom>
          <a:solidFill>
            <a:srgbClr val="141414"/>
          </a:solidFill>
          <a:ln w="12700">
            <a:solidFill>
              <a:srgbClr val="14141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 txBox="1"/>
          <p:nvPr/>
        </p:nvSpPr>
        <p:spPr>
          <a:xfrm>
            <a:off x="9765792" y="21031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33" name="Text 31"/>
          <p:cNvSpPr txBox="1"/>
          <p:nvPr/>
        </p:nvSpPr>
        <p:spPr>
          <a:xfrm>
            <a:off x="10104120" y="210312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 to main</a:t>
            </a:r>
            <a:endParaRPr lang="en-US" sz="1250" dirty="0"/>
          </a:p>
        </p:txBody>
      </p:sp>
      <p:sp>
        <p:nvSpPr>
          <p:cNvPr id="34" name="Text 32"/>
          <p:cNvSpPr txBox="1"/>
          <p:nvPr/>
        </p:nvSpPr>
        <p:spPr>
          <a:xfrm>
            <a:off x="9765792" y="2487168"/>
            <a:ext cx="1600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bundle on main is the version every agent reads.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640080" y="3611880"/>
            <a:ext cx="10881360" cy="713232"/>
          </a:xfrm>
          <a:prstGeom prst="roundRect">
            <a:avLst>
              <a:gd name="adj" fmla="val 7692"/>
            </a:avLst>
          </a:prstGeom>
          <a:solidFill>
            <a:srgbClr val="141414"/>
          </a:solidFill>
          <a:ln w="12700">
            <a:solidFill>
              <a:srgbClr val="141414"/>
            </a:solidFill>
            <a:prstDash val="solid"/>
          </a:ln>
          <a:effectLst>
            <a:outerShdw blurRad="889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868680" y="3813048"/>
            <a:ext cx="292608" cy="292608"/>
          </a:xfrm>
          <a:prstGeom prst="leftArrow">
            <a:avLst/>
          </a:prstGeom>
          <a:solidFill>
            <a:srgbClr val="C1121F"/>
          </a:solidFill>
          <a:ln w="12700">
            <a:solidFill>
              <a:srgbClr val="C1121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 txBox="1"/>
          <p:nvPr/>
        </p:nvSpPr>
        <p:spPr>
          <a:xfrm>
            <a:off x="1325880" y="3611880"/>
            <a:ext cx="7772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loop: </a:t>
            </a: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query the merged bundle — good answers, new decisions and resolved questions are filed back as new pages, which starts the cycle again.</a:t>
            </a:r>
            <a:endParaRPr lang="en-US" sz="1250" dirty="0"/>
          </a:p>
        </p:txBody>
      </p:sp>
      <p:sp>
        <p:nvSpPr>
          <p:cNvPr id="38" name="Shape 36"/>
          <p:cNvSpPr/>
          <p:nvPr/>
        </p:nvSpPr>
        <p:spPr>
          <a:xfrm>
            <a:off x="9235440" y="3730752"/>
            <a:ext cx="2121408" cy="475488"/>
          </a:xfrm>
          <a:prstGeom prst="roundRect">
            <a:avLst>
              <a:gd name="adj" fmla="val 23077"/>
            </a:avLst>
          </a:prstGeom>
          <a:solidFill>
            <a:srgbClr val="C1121F"/>
          </a:solidFill>
          <a:ln w="12700">
            <a:solidFill>
              <a:srgbClr val="C1121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 txBox="1"/>
          <p:nvPr/>
        </p:nvSpPr>
        <p:spPr>
          <a:xfrm>
            <a:off x="9235440" y="3730752"/>
            <a:ext cx="21214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Cheap model  ·  every query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640080" y="4526280"/>
            <a:ext cx="5349240" cy="1417320"/>
          </a:xfrm>
          <a:prstGeom prst="roundRect">
            <a:avLst>
              <a:gd name="adj" fmla="val 3871"/>
            </a:avLst>
          </a:prstGeom>
          <a:solidFill>
            <a:srgbClr val="C1121F"/>
          </a:solidFill>
          <a:ln w="12700">
            <a:solidFill>
              <a:srgbClr val="C1121F"/>
            </a:solidFill>
            <a:prstDash val="solid"/>
          </a:ln>
          <a:effectLst>
            <a:outerShdw blurRad="889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 txBox="1"/>
          <p:nvPr/>
        </p:nvSpPr>
        <p:spPr>
          <a:xfrm>
            <a:off x="914400" y="4690872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gate (step 2, our extension)</a:t>
            </a:r>
            <a:endParaRPr lang="en-US" sz="1400" dirty="0"/>
          </a:p>
        </p:txBody>
      </p:sp>
      <p:sp>
        <p:nvSpPr>
          <p:cNvPr id="42" name="Text 40"/>
          <p:cNvSpPr txBox="1"/>
          <p:nvPr/>
        </p:nvSpPr>
        <p:spPr>
          <a:xfrm>
            <a:off x="914400" y="5010912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new input contradicts a recorded rule, process or system-design constraint, ingest </a:t>
            </a: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stops and raises it as an open question</a:t>
            </a: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Nothing enters the wiki until a human decides — and the decision itself is filed as a page.</a:t>
            </a:r>
            <a:endParaRPr lang="en-US" sz="1150" dirty="0"/>
          </a:p>
        </p:txBody>
      </p:sp>
      <p:sp>
        <p:nvSpPr>
          <p:cNvPr id="43" name="Shape 41"/>
          <p:cNvSpPr/>
          <p:nvPr/>
        </p:nvSpPr>
        <p:spPr>
          <a:xfrm>
            <a:off x="6172200" y="4526280"/>
            <a:ext cx="5349240" cy="1417320"/>
          </a:xfrm>
          <a:prstGeom prst="roundRect">
            <a:avLst>
              <a:gd name="adj" fmla="val 3871"/>
            </a:avLst>
          </a:prstGeom>
          <a:solidFill>
            <a:srgbClr val="EAEAEA"/>
          </a:solidFill>
          <a:ln w="12700">
            <a:solidFill>
              <a:srgbClr val="EAEAEA"/>
            </a:solidFill>
            <a:prstDash val="solid"/>
          </a:ln>
          <a:effectLst>
            <a:outerShdw blurRad="889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 txBox="1"/>
          <p:nvPr/>
        </p:nvSpPr>
        <p:spPr>
          <a:xfrm>
            <a:off x="6446520" y="4690872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11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git carries this</a:t>
            </a:r>
            <a:endParaRPr lang="en-US" sz="1400" dirty="0"/>
          </a:p>
        </p:txBody>
      </p:sp>
      <p:sp>
        <p:nvSpPr>
          <p:cNvPr id="45" name="Text 43"/>
          <p:cNvSpPr txBox="1"/>
          <p:nvPr/>
        </p:nvSpPr>
        <p:spPr>
          <a:xfrm>
            <a:off x="6446520" y="5010912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bundle is plain markdown in a repo, so the wiki inherits </a:t>
            </a:r>
            <a:r>
              <a:rPr lang="en-US" sz="1150" b="1" dirty="0">
                <a:solidFill>
                  <a:srgbClr val="C11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history, blame, branches and diffs</a:t>
            </a: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for free. Every change is a PR; </a:t>
            </a:r>
            <a:r>
              <a:rPr lang="en-US" sz="1150" b="1" dirty="0">
                <a:solidFill>
                  <a:srgbClr val="C11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linter runs in CI</a:t>
            </a: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on each push, checking conformance, broken links and stale_after — in our repos, make build.</a:t>
            </a:r>
            <a:endParaRPr lang="en-US" sz="1150" dirty="0"/>
          </a:p>
        </p:txBody>
      </p:sp>
      <p:sp>
        <p:nvSpPr>
          <p:cNvPr id="46" name="Text 44"/>
          <p:cNvSpPr txBox="1"/>
          <p:nvPr/>
        </p:nvSpPr>
        <p:spPr>
          <a:xfrm>
            <a:off x="640080" y="612648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vector store to rebuild, no index to re-embed — the merge commit is the deployment. Ingest is the only step that justifies a frontier model, and it runs once per source.</a:t>
            </a:r>
            <a:endParaRPr lang="en-US" sz="1150" dirty="0"/>
          </a:p>
        </p:txBody>
      </p:sp>
      <p:sp>
        <p:nvSpPr>
          <p:cNvPr id="47" name="Agenda 47"/>
          <p:cNvSpPr txBox="1"/>
          <p:nvPr/>
        </p:nvSpPr>
        <p:spPr>
          <a:xfrm>
            <a:off x="648000" y="136800"/>
            <a:ext cx="2439000" cy="1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spc="100" dirty="0">
                <a:solidFill>
                  <a:srgbClr val="9A9A9A"/>
                </a:solidFill>
                <a:latin typeface="Calibri"/>
                <a:ea typeface="Calibri"/>
                <a:cs typeface="Calibri"/>
              </a:rPr>
              <a:t>01  </a:t>
            </a:r>
            <a:r>
              <a:rPr lang="en-US" sz="850" spc="100" dirty="0">
                <a:solidFill>
                  <a:srgbClr val="9A9A9A"/>
                </a:solidFill>
                <a:latin typeface="Calibri"/>
                <a:ea typeface="Calibri"/>
                <a:cs typeface="Calibri"/>
              </a:rPr>
              <a:t>CONTEXT ENGINEERING</a:t>
            </a:r>
          </a:p>
        </p:txBody>
      </p:sp>
      <p:sp>
        <p:nvSpPr>
          <p:cNvPr id="48" name="Agenda 48"/>
          <p:cNvSpPr/>
          <p:nvPr/>
        </p:nvSpPr>
        <p:spPr>
          <a:xfrm>
            <a:off x="648000" y="331200"/>
            <a:ext cx="2439000" cy="21600"/>
          </a:xfrm>
          <a:prstGeom prst="rect">
            <a:avLst/>
          </a:prstGeom>
          <a:solidFill>
            <a:srgbClr val="E2E2E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9" name="Agenda 49"/>
          <p:cNvSpPr txBox="1"/>
          <p:nvPr/>
        </p:nvSpPr>
        <p:spPr>
          <a:xfrm>
            <a:off x="3195000" y="136800"/>
            <a:ext cx="2439000" cy="1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spc="100" dirty="0">
                <a:solidFill>
                  <a:srgbClr val="C1121F"/>
                </a:solidFill>
                <a:latin typeface="Calibri"/>
                <a:ea typeface="Calibri"/>
                <a:cs typeface="Calibri"/>
              </a:rPr>
              <a:t>02  LLM WIKI</a:t>
            </a:r>
          </a:p>
        </p:txBody>
      </p:sp>
      <p:sp>
        <p:nvSpPr>
          <p:cNvPr id="50" name="Agenda 50"/>
          <p:cNvSpPr/>
          <p:nvPr/>
        </p:nvSpPr>
        <p:spPr>
          <a:xfrm>
            <a:off x="3195000" y="331200"/>
            <a:ext cx="2439000" cy="43200"/>
          </a:xfrm>
          <a:prstGeom prst="rect">
            <a:avLst/>
          </a:prstGeom>
          <a:solidFill>
            <a:srgbClr val="C1121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1" name="Agenda 51"/>
          <p:cNvSpPr txBox="1"/>
          <p:nvPr/>
        </p:nvSpPr>
        <p:spPr>
          <a:xfrm>
            <a:off x="5742000" y="136800"/>
            <a:ext cx="2439000" cy="1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spc="100" dirty="0">
                <a:solidFill>
                  <a:srgbClr val="9A9A9A"/>
                </a:solidFill>
                <a:latin typeface="Calibri"/>
                <a:ea typeface="Calibri"/>
                <a:cs typeface="Calibri"/>
              </a:rPr>
              <a:t>03  </a:t>
            </a:r>
            <a:r>
              <a:rPr lang="en-US" sz="850" spc="100" dirty="0">
                <a:solidFill>
                  <a:srgbClr val="9A9A9A"/>
                </a:solidFill>
                <a:latin typeface="Calibri"/>
                <a:ea typeface="Calibri"/>
                <a:cs typeface="Calibri"/>
              </a:rPr>
              <a:t>OKF PRODUCT DOCUMENTATION</a:t>
            </a:r>
          </a:p>
        </p:txBody>
      </p:sp>
      <p:sp>
        <p:nvSpPr>
          <p:cNvPr id="52" name="Agenda 52"/>
          <p:cNvSpPr/>
          <p:nvPr/>
        </p:nvSpPr>
        <p:spPr>
          <a:xfrm>
            <a:off x="5742000" y="331200"/>
            <a:ext cx="2439000" cy="21600"/>
          </a:xfrm>
          <a:prstGeom prst="rect">
            <a:avLst/>
          </a:prstGeom>
          <a:solidFill>
            <a:srgbClr val="E2E2E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3" name="Agenda 53"/>
          <p:cNvSpPr txBox="1"/>
          <p:nvPr/>
        </p:nvSpPr>
        <p:spPr>
          <a:xfrm>
            <a:off x="8289000" y="136800"/>
            <a:ext cx="2439000" cy="1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spc="100" dirty="0">
                <a:solidFill>
                  <a:srgbClr val="9A9A9A"/>
                </a:solidFill>
                <a:latin typeface="Calibri"/>
                <a:ea typeface="Calibri"/>
                <a:cs typeface="Calibri"/>
              </a:rPr>
              <a:t>04  </a:t>
            </a:r>
            <a:r>
              <a:rPr lang="en-US" sz="850" spc="100" dirty="0">
                <a:solidFill>
                  <a:srgbClr val="9A9A9A"/>
                </a:solidFill>
                <a:latin typeface="Calibri"/>
                <a:ea typeface="Calibri"/>
                <a:cs typeface="Calibri"/>
              </a:rPr>
              <a:t>CONCLUSION</a:t>
            </a:r>
          </a:p>
        </p:txBody>
      </p:sp>
      <p:sp>
        <p:nvSpPr>
          <p:cNvPr id="54" name="Agenda 54"/>
          <p:cNvSpPr/>
          <p:nvPr/>
        </p:nvSpPr>
        <p:spPr>
          <a:xfrm>
            <a:off x="8289000" y="331200"/>
            <a:ext cx="2439000" cy="21600"/>
          </a:xfrm>
          <a:prstGeom prst="rect">
            <a:avLst/>
          </a:prstGeom>
          <a:solidFill>
            <a:srgbClr val="E2E2E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414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it differs from classic RAG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115568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replacement in every case — a different point on the cost/consistency curve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212080" cy="4023360"/>
          </a:xfrm>
          <a:prstGeom prst="roundRect">
            <a:avLst>
              <a:gd name="adj" fmla="val 1364"/>
            </a:avLst>
          </a:prstGeom>
          <a:solidFill>
            <a:srgbClr val="F4F4F4"/>
          </a:solidFill>
          <a:ln w="12700">
            <a:solidFill>
              <a:srgbClr val="F4F4F4"/>
            </a:solidFill>
            <a:prstDash val="solid"/>
          </a:ln>
          <a:effectLst>
            <a:outerShdw blurRad="889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6309360" y="1783080"/>
            <a:ext cx="5212080" cy="4023360"/>
          </a:xfrm>
          <a:prstGeom prst="roundRect">
            <a:avLst>
              <a:gd name="adj" fmla="val 1364"/>
            </a:avLst>
          </a:prstGeom>
          <a:solidFill>
            <a:srgbClr val="EAEAEA"/>
          </a:solidFill>
          <a:ln w="12700">
            <a:solidFill>
              <a:srgbClr val="EAEAEA"/>
            </a:solidFill>
            <a:prstDash val="solid"/>
          </a:ln>
          <a:effectLst>
            <a:outerShdw blurRad="889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960120" y="20116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5A5A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Vector RAG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6629400" y="20116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112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LLM wiki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960120" y="2660904"/>
            <a:ext cx="82296" cy="82296"/>
          </a:xfrm>
          <a:prstGeom prst="rect">
            <a:avLst/>
          </a:prstGeom>
          <a:solidFill>
            <a:srgbClr val="5A5A5A"/>
          </a:solidFill>
          <a:ln w="12700">
            <a:solidFill>
              <a:srgbClr val="5A5A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1216152" y="2542032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Chunks retrieved </a:t>
            </a:r>
            <a:r>
              <a:rPr lang="en-US" sz="1350" b="1" dirty="0">
                <a:solidFill>
                  <a:srgbClr val="C11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fresh on every query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960120" y="3099816"/>
            <a:ext cx="82296" cy="82296"/>
          </a:xfrm>
          <a:prstGeom prst="rect">
            <a:avLst/>
          </a:prstGeom>
          <a:solidFill>
            <a:srgbClr val="5A5A5A"/>
          </a:solidFill>
          <a:ln w="12700">
            <a:solidFill>
              <a:srgbClr val="5A5A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1216152" y="2980944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Fuzzy, </a:t>
            </a:r>
            <a:r>
              <a:rPr lang="en-US" sz="1350" b="1" dirty="0">
                <a:solidFill>
                  <a:srgbClr val="C11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hit-or-miss</a:t>
            </a: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similarity search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960120" y="3538728"/>
            <a:ext cx="82296" cy="82296"/>
          </a:xfrm>
          <a:prstGeom prst="rect">
            <a:avLst/>
          </a:prstGeom>
          <a:solidFill>
            <a:srgbClr val="5A5A5A"/>
          </a:solidFill>
          <a:ln w="12700">
            <a:solidFill>
              <a:srgbClr val="5A5A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 txBox="1"/>
          <p:nvPr/>
        </p:nvSpPr>
        <p:spPr>
          <a:xfrm>
            <a:off x="1216152" y="3419856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Chunks </a:t>
            </a:r>
            <a:r>
              <a:rPr lang="en-US" sz="1350" b="1" dirty="0">
                <a:solidFill>
                  <a:srgbClr val="C11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lose their provenance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960120" y="3977640"/>
            <a:ext cx="82296" cy="82296"/>
          </a:xfrm>
          <a:prstGeom prst="rect">
            <a:avLst/>
          </a:prstGeom>
          <a:solidFill>
            <a:srgbClr val="5A5A5A"/>
          </a:solidFill>
          <a:ln w="12700">
            <a:solidFill>
              <a:srgbClr val="5A5A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 txBox="1"/>
          <p:nvPr/>
        </p:nvSpPr>
        <p:spPr>
          <a:xfrm>
            <a:off x="1216152" y="3858768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Contradictions </a:t>
            </a:r>
            <a:r>
              <a:rPr lang="en-US" sz="1350" b="1" dirty="0">
                <a:solidFill>
                  <a:srgbClr val="C11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overwritten silently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960120" y="4416552"/>
            <a:ext cx="82296" cy="82296"/>
          </a:xfrm>
          <a:prstGeom prst="rect">
            <a:avLst/>
          </a:prstGeom>
          <a:solidFill>
            <a:srgbClr val="5A5A5A"/>
          </a:solidFill>
          <a:ln w="12700">
            <a:solidFill>
              <a:srgbClr val="5A5A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 txBox="1"/>
          <p:nvPr/>
        </p:nvSpPr>
        <p:spPr>
          <a:xfrm>
            <a:off x="1216152" y="429768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an </a:t>
            </a:r>
            <a:r>
              <a:rPr lang="en-US" sz="1350" b="1" dirty="0">
                <a:solidFill>
                  <a:srgbClr val="C11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 service</a:t>
            </a: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and a store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960120" y="4855464"/>
            <a:ext cx="82296" cy="82296"/>
          </a:xfrm>
          <a:prstGeom prst="rect">
            <a:avLst/>
          </a:prstGeom>
          <a:solidFill>
            <a:srgbClr val="5A5A5A"/>
          </a:solidFill>
          <a:ln w="12700">
            <a:solidFill>
              <a:srgbClr val="5A5A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 txBox="1"/>
          <p:nvPr/>
        </p:nvSpPr>
        <p:spPr>
          <a:xfrm>
            <a:off x="1216152" y="4736592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store is </a:t>
            </a:r>
            <a:r>
              <a:rPr lang="en-US" sz="1350" b="1" dirty="0">
                <a:solidFill>
                  <a:srgbClr val="C11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diffable</a:t>
            </a: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 git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960120" y="5294376"/>
            <a:ext cx="82296" cy="82296"/>
          </a:xfrm>
          <a:prstGeom prst="rect">
            <a:avLst/>
          </a:prstGeom>
          <a:solidFill>
            <a:srgbClr val="5A5A5A"/>
          </a:solidFill>
          <a:ln w="12700">
            <a:solidFill>
              <a:srgbClr val="5A5A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 txBox="1"/>
          <p:nvPr/>
        </p:nvSpPr>
        <p:spPr>
          <a:xfrm>
            <a:off x="1216152" y="5175504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C11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query</a:t>
            </a: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pays full retrieval tokens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6629400" y="2660904"/>
            <a:ext cx="82296" cy="82296"/>
          </a:xfrm>
          <a:prstGeom prst="rect">
            <a:avLst/>
          </a:prstGeom>
          <a:solidFill>
            <a:srgbClr val="C1121F"/>
          </a:solidFill>
          <a:ln w="12700">
            <a:solidFill>
              <a:srgbClr val="C1121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 txBox="1"/>
          <p:nvPr/>
        </p:nvSpPr>
        <p:spPr>
          <a:xfrm>
            <a:off x="6885432" y="2542032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Curated pages, </a:t>
            </a:r>
            <a:r>
              <a:rPr lang="en-US" sz="1350" b="1" dirty="0">
                <a:solidFill>
                  <a:srgbClr val="C11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written once, kept current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6629400" y="3099816"/>
            <a:ext cx="82296" cy="82296"/>
          </a:xfrm>
          <a:prstGeom prst="rect">
            <a:avLst/>
          </a:prstGeom>
          <a:solidFill>
            <a:srgbClr val="C1121F"/>
          </a:solidFill>
          <a:ln w="12700">
            <a:solidFill>
              <a:srgbClr val="C1121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 txBox="1"/>
          <p:nvPr/>
        </p:nvSpPr>
        <p:spPr>
          <a:xfrm>
            <a:off x="6885432" y="2980944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C11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path</a:t>
            </a: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index → section → page</a:t>
            </a:r>
            <a:endParaRPr lang="en-US" sz="1350" dirty="0"/>
          </a:p>
        </p:txBody>
      </p:sp>
      <p:sp>
        <p:nvSpPr>
          <p:cNvPr id="26" name="Shape 24"/>
          <p:cNvSpPr/>
          <p:nvPr/>
        </p:nvSpPr>
        <p:spPr>
          <a:xfrm>
            <a:off x="6629400" y="3538728"/>
            <a:ext cx="82296" cy="82296"/>
          </a:xfrm>
          <a:prstGeom prst="rect">
            <a:avLst/>
          </a:prstGeom>
          <a:solidFill>
            <a:srgbClr val="C1121F"/>
          </a:solidFill>
          <a:ln w="12700">
            <a:solidFill>
              <a:srgbClr val="C1121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 txBox="1"/>
          <p:nvPr/>
        </p:nvSpPr>
        <p:spPr>
          <a:xfrm>
            <a:off x="6885432" y="3419856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claim </a:t>
            </a:r>
            <a:r>
              <a:rPr lang="en-US" sz="1350" b="1" dirty="0">
                <a:solidFill>
                  <a:srgbClr val="C11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traceable to a raw source</a:t>
            </a:r>
            <a:endParaRPr lang="en-US" sz="1350" dirty="0"/>
          </a:p>
        </p:txBody>
      </p:sp>
      <p:sp>
        <p:nvSpPr>
          <p:cNvPr id="28" name="Shape 26"/>
          <p:cNvSpPr/>
          <p:nvPr/>
        </p:nvSpPr>
        <p:spPr>
          <a:xfrm>
            <a:off x="6629400" y="3977640"/>
            <a:ext cx="82296" cy="82296"/>
          </a:xfrm>
          <a:prstGeom prst="rect">
            <a:avLst/>
          </a:prstGeom>
          <a:solidFill>
            <a:srgbClr val="C1121F"/>
          </a:solidFill>
          <a:ln w="12700">
            <a:solidFill>
              <a:srgbClr val="C1121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 txBox="1"/>
          <p:nvPr/>
        </p:nvSpPr>
        <p:spPr>
          <a:xfrm>
            <a:off x="6885432" y="3858768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Contradictions </a:t>
            </a:r>
            <a:r>
              <a:rPr lang="en-US" sz="1350" b="1" dirty="0">
                <a:solidFill>
                  <a:srgbClr val="C11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flagged for a human</a:t>
            </a:r>
            <a:endParaRPr lang="en-US" sz="1350" dirty="0"/>
          </a:p>
        </p:txBody>
      </p:sp>
      <p:sp>
        <p:nvSpPr>
          <p:cNvPr id="30" name="Shape 28"/>
          <p:cNvSpPr/>
          <p:nvPr/>
        </p:nvSpPr>
        <p:spPr>
          <a:xfrm>
            <a:off x="6629400" y="4416552"/>
            <a:ext cx="82296" cy="82296"/>
          </a:xfrm>
          <a:prstGeom prst="rect">
            <a:avLst/>
          </a:prstGeom>
          <a:solidFill>
            <a:srgbClr val="C1121F"/>
          </a:solidFill>
          <a:ln w="12700">
            <a:solidFill>
              <a:srgbClr val="C1121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 txBox="1"/>
          <p:nvPr/>
        </p:nvSpPr>
        <p:spPr>
          <a:xfrm>
            <a:off x="6885432" y="429768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C11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 markdown</a:t>
            </a: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no infrastructure</a:t>
            </a:r>
            <a:endParaRPr lang="en-US" sz="1350" dirty="0"/>
          </a:p>
        </p:txBody>
      </p:sp>
      <p:sp>
        <p:nvSpPr>
          <p:cNvPr id="32" name="Shape 30"/>
          <p:cNvSpPr/>
          <p:nvPr/>
        </p:nvSpPr>
        <p:spPr>
          <a:xfrm>
            <a:off x="6629400" y="4855464"/>
            <a:ext cx="82296" cy="82296"/>
          </a:xfrm>
          <a:prstGeom prst="rect">
            <a:avLst/>
          </a:prstGeom>
          <a:solidFill>
            <a:srgbClr val="C1121F"/>
          </a:solidFill>
          <a:ln w="12700">
            <a:solidFill>
              <a:srgbClr val="C1121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 txBox="1"/>
          <p:nvPr/>
        </p:nvSpPr>
        <p:spPr>
          <a:xfrm>
            <a:off x="6885432" y="4736592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C11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Reviewable in a pull request</a:t>
            </a:r>
            <a:endParaRPr lang="en-US" sz="1350" dirty="0"/>
          </a:p>
        </p:txBody>
      </p:sp>
      <p:sp>
        <p:nvSpPr>
          <p:cNvPr id="34" name="Shape 32"/>
          <p:cNvSpPr/>
          <p:nvPr/>
        </p:nvSpPr>
        <p:spPr>
          <a:xfrm>
            <a:off x="6629400" y="5294376"/>
            <a:ext cx="82296" cy="82296"/>
          </a:xfrm>
          <a:prstGeom prst="rect">
            <a:avLst/>
          </a:prstGeom>
          <a:solidFill>
            <a:srgbClr val="C1121F"/>
          </a:solidFill>
          <a:ln w="12700">
            <a:solidFill>
              <a:srgbClr val="C1121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 txBox="1"/>
          <p:nvPr/>
        </p:nvSpPr>
        <p:spPr>
          <a:xfrm>
            <a:off x="6885432" y="5175504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C11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Fewer tokens at retrieval</a:t>
            </a: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a cheaper model copes</a:t>
            </a:r>
            <a:endParaRPr lang="en-US" sz="1350" dirty="0"/>
          </a:p>
        </p:txBody>
      </p:sp>
      <p:sp>
        <p:nvSpPr>
          <p:cNvPr id="36" name="Text 34"/>
          <p:cNvSpPr txBox="1"/>
          <p:nvPr/>
        </p:nvSpPr>
        <p:spPr>
          <a:xfrm>
            <a:off x="640080" y="608076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Caveat: the gist reports it working at ~100 sources / hundreds of pages; beyond that, index-first may need search. A bad schema produces an incoherent wiki — worse than the raw corpus.</a:t>
            </a:r>
            <a:endParaRPr lang="en-US" sz="1150" dirty="0"/>
          </a:p>
        </p:txBody>
      </p:sp>
      <p:sp>
        <p:nvSpPr>
          <p:cNvPr id="37" name="Agenda 37"/>
          <p:cNvSpPr txBox="1"/>
          <p:nvPr/>
        </p:nvSpPr>
        <p:spPr>
          <a:xfrm>
            <a:off x="648000" y="136800"/>
            <a:ext cx="2439000" cy="1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spc="100" dirty="0">
                <a:solidFill>
                  <a:srgbClr val="9A9A9A"/>
                </a:solidFill>
                <a:latin typeface="Calibri"/>
                <a:ea typeface="Calibri"/>
                <a:cs typeface="Calibri"/>
              </a:rPr>
              <a:t>01  </a:t>
            </a:r>
            <a:r>
              <a:rPr lang="en-US" sz="850" spc="100" dirty="0">
                <a:solidFill>
                  <a:srgbClr val="9A9A9A"/>
                </a:solidFill>
                <a:latin typeface="Calibri"/>
                <a:ea typeface="Calibri"/>
                <a:cs typeface="Calibri"/>
              </a:rPr>
              <a:t>CONTEXT ENGINEERING</a:t>
            </a:r>
          </a:p>
        </p:txBody>
      </p:sp>
      <p:sp>
        <p:nvSpPr>
          <p:cNvPr id="38" name="Agenda 38"/>
          <p:cNvSpPr/>
          <p:nvPr/>
        </p:nvSpPr>
        <p:spPr>
          <a:xfrm>
            <a:off x="648000" y="331200"/>
            <a:ext cx="2439000" cy="21600"/>
          </a:xfrm>
          <a:prstGeom prst="rect">
            <a:avLst/>
          </a:prstGeom>
          <a:solidFill>
            <a:srgbClr val="E2E2E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9" name="Agenda 39"/>
          <p:cNvSpPr txBox="1"/>
          <p:nvPr/>
        </p:nvSpPr>
        <p:spPr>
          <a:xfrm>
            <a:off x="3195000" y="136800"/>
            <a:ext cx="2439000" cy="1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spc="100" dirty="0">
                <a:solidFill>
                  <a:srgbClr val="C1121F"/>
                </a:solidFill>
                <a:latin typeface="Calibri"/>
                <a:ea typeface="Calibri"/>
                <a:cs typeface="Calibri"/>
              </a:rPr>
              <a:t>02  LLM WIKI</a:t>
            </a:r>
          </a:p>
        </p:txBody>
      </p:sp>
      <p:sp>
        <p:nvSpPr>
          <p:cNvPr id="40" name="Agenda 40"/>
          <p:cNvSpPr/>
          <p:nvPr/>
        </p:nvSpPr>
        <p:spPr>
          <a:xfrm>
            <a:off x="3195000" y="331200"/>
            <a:ext cx="2439000" cy="43200"/>
          </a:xfrm>
          <a:prstGeom prst="rect">
            <a:avLst/>
          </a:prstGeom>
          <a:solidFill>
            <a:srgbClr val="C1121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1" name="Agenda 41"/>
          <p:cNvSpPr txBox="1"/>
          <p:nvPr/>
        </p:nvSpPr>
        <p:spPr>
          <a:xfrm>
            <a:off x="5742000" y="136800"/>
            <a:ext cx="2439000" cy="1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spc="100" dirty="0">
                <a:solidFill>
                  <a:srgbClr val="9A9A9A"/>
                </a:solidFill>
                <a:latin typeface="Calibri"/>
                <a:ea typeface="Calibri"/>
                <a:cs typeface="Calibri"/>
              </a:rPr>
              <a:t>03  </a:t>
            </a:r>
            <a:r>
              <a:rPr lang="en-US" sz="850" spc="100" dirty="0">
                <a:solidFill>
                  <a:srgbClr val="9A9A9A"/>
                </a:solidFill>
                <a:latin typeface="Calibri"/>
                <a:ea typeface="Calibri"/>
                <a:cs typeface="Calibri"/>
              </a:rPr>
              <a:t>OKF PRODUCT DOCUMENTATION</a:t>
            </a:r>
          </a:p>
        </p:txBody>
      </p:sp>
      <p:sp>
        <p:nvSpPr>
          <p:cNvPr id="42" name="Agenda 42"/>
          <p:cNvSpPr/>
          <p:nvPr/>
        </p:nvSpPr>
        <p:spPr>
          <a:xfrm>
            <a:off x="5742000" y="331200"/>
            <a:ext cx="2439000" cy="21600"/>
          </a:xfrm>
          <a:prstGeom prst="rect">
            <a:avLst/>
          </a:prstGeom>
          <a:solidFill>
            <a:srgbClr val="E2E2E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3" name="Agenda 43"/>
          <p:cNvSpPr txBox="1"/>
          <p:nvPr/>
        </p:nvSpPr>
        <p:spPr>
          <a:xfrm>
            <a:off x="8289000" y="136800"/>
            <a:ext cx="2439000" cy="1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spc="100" dirty="0">
                <a:solidFill>
                  <a:srgbClr val="9A9A9A"/>
                </a:solidFill>
                <a:latin typeface="Calibri"/>
                <a:ea typeface="Calibri"/>
                <a:cs typeface="Calibri"/>
              </a:rPr>
              <a:t>04  </a:t>
            </a:r>
            <a:r>
              <a:rPr lang="en-US" sz="850" spc="100" dirty="0">
                <a:solidFill>
                  <a:srgbClr val="9A9A9A"/>
                </a:solidFill>
                <a:latin typeface="Calibri"/>
                <a:ea typeface="Calibri"/>
                <a:cs typeface="Calibri"/>
              </a:rPr>
              <a:t>CONCLUSION</a:t>
            </a:r>
          </a:p>
        </p:txBody>
      </p:sp>
      <p:sp>
        <p:nvSpPr>
          <p:cNvPr id="44" name="Agenda 44"/>
          <p:cNvSpPr/>
          <p:nvPr/>
        </p:nvSpPr>
        <p:spPr>
          <a:xfrm>
            <a:off x="8289000" y="331200"/>
            <a:ext cx="2439000" cy="21600"/>
          </a:xfrm>
          <a:prstGeom prst="rect">
            <a:avLst/>
          </a:prstGeom>
          <a:solidFill>
            <a:srgbClr val="E2E2E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648000" y="396000"/>
            <a:ext cx="10872000" cy="7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41414"/>
                </a:solidFill>
                <a:latin typeface="Cambria"/>
                <a:ea typeface="Cambria"/>
                <a:cs typeface="Cambria"/>
              </a:rPr>
              <a:t>The pattern, built: okf-llm-wiki</a:t>
            </a:r>
            <a:endParaRPr lang="en-US" sz="3400" dirty="0"/>
          </a:p>
        </p:txBody>
      </p:sp>
      <p:sp>
        <p:nvSpPr>
          <p:cNvPr id="3" name="Text 3"/>
          <p:cNvSpPr txBox="1"/>
          <p:nvPr/>
        </p:nvSpPr>
        <p:spPr>
          <a:xfrm>
            <a:off x="648000" y="1116000"/>
            <a:ext cx="10872000" cy="3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Step 1 of the series — a personal knowledge wiki an AI agent keeps, with every page an OKF concept</a:t>
            </a:r>
            <a:endParaRPr lang="en-US" sz="1400" dirty="0"/>
          </a:p>
        </p:txBody>
      </p:sp>
      <p:sp>
        <p:nvSpPr>
          <p:cNvPr id="4" name="Text 4"/>
          <p:cNvSpPr txBox="1"/>
          <p:nvPr/>
        </p:nvSpPr>
        <p:spPr>
          <a:xfrm>
            <a:off x="648000" y="1692000"/>
            <a:ext cx="5220000" cy="28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1121F"/>
                </a:solidFill>
                <a:latin typeface="Calibri"/>
                <a:ea typeface="Calibri"/>
                <a:cs typeface="Calibri"/>
              </a:rPr>
              <a:t>What it is</a:t>
            </a:r>
            <a:endParaRPr lang="en-US" sz="1600" dirty="0"/>
          </a:p>
        </p:txBody>
      </p:sp>
      <p:sp>
        <p:nvSpPr>
          <p:cNvPr id="5" name="Shape 5"/>
          <p:cNvSpPr/>
          <p:nvPr/>
        </p:nvSpPr>
        <p:spPr>
          <a:xfrm>
            <a:off x="648000" y="2088000"/>
            <a:ext cx="5220000" cy="1404000"/>
          </a:xfrm>
          <a:prstGeom prst="roundRect">
            <a:avLst>
              <a:gd name="adj" fmla="val 7500"/>
            </a:avLst>
          </a:prstGeom>
          <a:solidFill>
            <a:srgbClr val="141414"/>
          </a:solidFill>
          <a:ln w="12700">
            <a:solidFill>
              <a:srgbClr val="141414"/>
            </a:solidFill>
            <a:prstDash val="solid"/>
          </a:ln>
          <a:effectLst>
            <a:outerShdw blurRad="889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6"/>
          <p:cNvSpPr txBox="1"/>
          <p:nvPr/>
        </p:nvSpPr>
        <p:spPr>
          <a:xfrm>
            <a:off x="972000" y="2088000"/>
            <a:ext cx="4572000" cy="140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6B6B"/>
                </a:solidFill>
                <a:latin typeface="Calibri"/>
                <a:ea typeface="Calibri"/>
                <a:cs typeface="Calibri"/>
              </a:rPr>
              <a:t>You decide</a:t>
            </a:r>
            <a:r>
              <a:rPr lang="en-US" sz="1500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what goes in and what is true.</a:t>
            </a:r>
            <a:endParaRPr lang="en-US" sz="1500" dirty="0"/>
          </a:p>
          <a:p>
            <a:pPr marL="0" indent="0">
              <a:spcBef>
                <a:spcPts val="600"/>
              </a:spcBef>
              <a:buNone/>
            </a:pPr>
            <a:r>
              <a:rPr lang="en-US" sz="1300" dirty="0">
                <a:solidFill>
                  <a:srgbClr val="D6D6D6"/>
                </a:solidFill>
                <a:latin typeface="Calibri"/>
                <a:ea typeface="Calibri"/>
                <a:cs typeface="Calibri"/>
              </a:rPr>
              <a:t>The agent reads new material, works out which pages it affects, writes them, keeps links and the catalogue correct, and records every step in the log.</a:t>
            </a:r>
            <a:endParaRPr lang="en-US" sz="1300" dirty="0"/>
          </a:p>
        </p:txBody>
      </p:sp>
      <p:sp>
        <p:nvSpPr>
          <p:cNvPr id="7" name="Shape 7"/>
          <p:cNvSpPr/>
          <p:nvPr/>
        </p:nvSpPr>
        <p:spPr>
          <a:xfrm>
            <a:off x="648000" y="3672000"/>
            <a:ext cx="5220000" cy="918000"/>
          </a:xfrm>
          <a:prstGeom prst="roundRect">
            <a:avLst>
              <a:gd name="adj" fmla="val 5455"/>
            </a:avLst>
          </a:prstGeom>
          <a:solidFill>
            <a:srgbClr val="EAEAEA"/>
          </a:solidFill>
          <a:ln w="12700">
            <a:solidFill>
              <a:srgbClr val="EAEAEA"/>
            </a:solidFill>
            <a:prstDash val="solid"/>
          </a:ln>
          <a:effectLst>
            <a:outerShdw blurRad="889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8"/>
          <p:cNvSpPr txBox="1"/>
          <p:nvPr/>
        </p:nvSpPr>
        <p:spPr>
          <a:xfrm>
            <a:off x="900000" y="3798000"/>
            <a:ext cx="4680000" cy="25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1121F"/>
                </a:solidFill>
                <a:latin typeface="Calibri"/>
                <a:ea typeface="Calibri"/>
                <a:cs typeface="Calibri"/>
              </a:rPr>
              <a:t>Every claim traceable</a:t>
            </a:r>
            <a:endParaRPr lang="en-US" sz="1400" dirty="0"/>
          </a:p>
        </p:txBody>
      </p:sp>
      <p:sp>
        <p:nvSpPr>
          <p:cNvPr id="9" name="Text 9"/>
          <p:cNvSpPr txBox="1"/>
          <p:nvPr/>
        </p:nvSpPr>
        <p:spPr>
          <a:xfrm>
            <a:off x="900000" y="4050000"/>
            <a:ext cx="4680000" cy="45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Documents are </a:t>
            </a:r>
            <a:r>
              <a:rPr lang="en-US" sz="1200" b="1" dirty="0">
                <a:solidFill>
                  <a:srgbClr val="C1121F"/>
                </a:solidFill>
                <a:latin typeface="Calibri"/>
                <a:ea typeface="Calibri"/>
                <a:cs typeface="Calibri"/>
              </a:rPr>
              <a:t>kept as received</a:t>
            </a:r>
            <a:r>
              <a:rPr lang="en-US" sz="1200" dirty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 in references/; what the owner says goes into </a:t>
            </a:r>
            <a:r>
              <a:rPr lang="en-US" sz="1200" b="1" dirty="0">
                <a:solidFill>
                  <a:srgbClr val="C1121F"/>
                </a:solidFill>
                <a:latin typeface="Calibri"/>
                <a:ea typeface="Calibri"/>
                <a:cs typeface="Calibri"/>
              </a:rPr>
              <a:t>dated owner notes</a:t>
            </a:r>
            <a:r>
              <a:rPr lang="en-US" sz="1200" dirty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. Pages cite both in sources.</a:t>
            </a:r>
            <a:endParaRPr lang="en-US" sz="1200" dirty="0"/>
          </a:p>
        </p:txBody>
      </p:sp>
      <p:sp>
        <p:nvSpPr>
          <p:cNvPr id="10" name="Shape 10"/>
          <p:cNvSpPr/>
          <p:nvPr/>
        </p:nvSpPr>
        <p:spPr>
          <a:xfrm>
            <a:off x="648000" y="4698000"/>
            <a:ext cx="5220000" cy="918000"/>
          </a:xfrm>
          <a:prstGeom prst="roundRect">
            <a:avLst>
              <a:gd name="adj" fmla="val 5455"/>
            </a:avLst>
          </a:prstGeom>
          <a:solidFill>
            <a:srgbClr val="F4F4F4"/>
          </a:solidFill>
          <a:ln w="12700">
            <a:solidFill>
              <a:srgbClr val="F4F4F4"/>
            </a:solidFill>
            <a:prstDash val="solid"/>
          </a:ln>
          <a:effectLst>
            <a:outerShdw blurRad="889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11"/>
          <p:cNvSpPr txBox="1"/>
          <p:nvPr/>
        </p:nvSpPr>
        <p:spPr>
          <a:xfrm>
            <a:off x="900000" y="4824000"/>
            <a:ext cx="4680000" cy="25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1121F"/>
                </a:solidFill>
                <a:latin typeface="Calibri"/>
                <a:ea typeface="Calibri"/>
                <a:cs typeface="Calibri"/>
              </a:rPr>
              <a:t>Signed off by a person</a:t>
            </a:r>
            <a:endParaRPr lang="en-US" sz="1400" dirty="0"/>
          </a:p>
        </p:txBody>
      </p:sp>
      <p:sp>
        <p:nvSpPr>
          <p:cNvPr id="12" name="Text 12"/>
          <p:cNvSpPr txBox="1"/>
          <p:nvPr/>
        </p:nvSpPr>
        <p:spPr>
          <a:xfrm>
            <a:off x="900000" y="5076000"/>
            <a:ext cx="4680000" cy="45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1121F"/>
                </a:solidFill>
                <a:latin typeface="Calibri"/>
                <a:ea typeface="Calibri"/>
                <a:cs typeface="Calibri"/>
              </a:rPr>
              <a:t>verified: human:owner</a:t>
            </a:r>
            <a:r>
              <a:rPr lang="en-US" sz="1200" dirty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 is recorded only with make verify — </a:t>
            </a:r>
            <a:r>
              <a:rPr lang="en-US" sz="1200" b="1" dirty="0">
                <a:solidFill>
                  <a:srgbClr val="C1121F"/>
                </a:solidFill>
                <a:latin typeface="Calibri"/>
                <a:ea typeface="Calibri"/>
                <a:cs typeface="Calibri"/>
              </a:rPr>
              <a:t>never by the agent</a:t>
            </a:r>
            <a:r>
              <a:rPr lang="en-US" sz="1200" dirty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. Plain Markdown in git, readable in Obsidian and as a website.</a:t>
            </a:r>
            <a:endParaRPr lang="en-US" sz="1200" dirty="0"/>
          </a:p>
        </p:txBody>
      </p:sp>
      <p:sp>
        <p:nvSpPr>
          <p:cNvPr id="13" name="Text 13"/>
          <p:cNvSpPr txBox="1"/>
          <p:nvPr/>
        </p:nvSpPr>
        <p:spPr>
          <a:xfrm>
            <a:off x="6300000" y="1692000"/>
            <a:ext cx="5220000" cy="28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1121F"/>
                </a:solidFill>
                <a:latin typeface="Calibri"/>
                <a:ea typeface="Calibri"/>
                <a:cs typeface="Calibri"/>
              </a:rPr>
              <a:t>Four operations</a:t>
            </a:r>
            <a:endParaRPr lang="en-US" sz="1600" dirty="0"/>
          </a:p>
        </p:txBody>
      </p:sp>
      <p:sp>
        <p:nvSpPr>
          <p:cNvPr id="14" name="Shape 14"/>
          <p:cNvSpPr/>
          <p:nvPr/>
        </p:nvSpPr>
        <p:spPr>
          <a:xfrm>
            <a:off x="6300000" y="2124000"/>
            <a:ext cx="385200" cy="385200"/>
          </a:xfrm>
          <a:prstGeom prst="ellipse">
            <a:avLst/>
          </a:prstGeom>
          <a:solidFill>
            <a:srgbClr val="C1121F"/>
          </a:solidFill>
          <a:ln w="12700">
            <a:solidFill>
              <a:srgbClr val="C1121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5"/>
          <p:cNvSpPr txBox="1"/>
          <p:nvPr/>
        </p:nvSpPr>
        <p:spPr>
          <a:xfrm>
            <a:off x="6300000" y="2124000"/>
            <a:ext cx="385200" cy="385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  <a:endParaRPr lang="en-US" sz="1300" dirty="0"/>
          </a:p>
        </p:txBody>
      </p:sp>
      <p:sp>
        <p:nvSpPr>
          <p:cNvPr id="16" name="Text 16"/>
          <p:cNvSpPr txBox="1"/>
          <p:nvPr/>
        </p:nvSpPr>
        <p:spPr>
          <a:xfrm>
            <a:off x="6876000" y="2070000"/>
            <a:ext cx="4644000" cy="25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41414"/>
                </a:solidFill>
                <a:latin typeface="Courier New"/>
                <a:ea typeface="Courier New"/>
                <a:cs typeface="Courier New"/>
              </a:rPr>
              <a:t>/note</a:t>
            </a:r>
            <a:endParaRPr lang="en-US" sz="1450" dirty="0"/>
          </a:p>
        </p:txBody>
      </p:sp>
      <p:sp>
        <p:nvSpPr>
          <p:cNvPr id="17" name="Text 17"/>
          <p:cNvSpPr txBox="1"/>
          <p:nvPr/>
        </p:nvSpPr>
        <p:spPr>
          <a:xfrm>
            <a:off x="6876000" y="2358000"/>
            <a:ext cx="4644000" cy="52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Write down something you know. Recorded </a:t>
            </a:r>
            <a:r>
              <a:rPr lang="en-US" sz="1200" b="1" dirty="0">
                <a:solidFill>
                  <a:srgbClr val="C1121F"/>
                </a:solidFill>
                <a:latin typeface="Calibri"/>
                <a:ea typeface="Calibri"/>
                <a:cs typeface="Calibri"/>
              </a:rPr>
              <a:t>verbatim</a:t>
            </a:r>
            <a:r>
              <a:rPr lang="en-US" sz="1200" dirty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 in the month's owner notes, then folded into the right page.</a:t>
            </a:r>
            <a:endParaRPr lang="en-US" sz="1200" dirty="0"/>
          </a:p>
        </p:txBody>
      </p:sp>
      <p:sp>
        <p:nvSpPr>
          <p:cNvPr id="18" name="Shape 18"/>
          <p:cNvSpPr/>
          <p:nvPr/>
        </p:nvSpPr>
        <p:spPr>
          <a:xfrm>
            <a:off x="6300000" y="3024000"/>
            <a:ext cx="385200" cy="385200"/>
          </a:xfrm>
          <a:prstGeom prst="ellipse">
            <a:avLst/>
          </a:prstGeom>
          <a:solidFill>
            <a:srgbClr val="141414"/>
          </a:solidFill>
          <a:ln w="12700">
            <a:solidFill>
              <a:srgbClr val="14141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9"/>
          <p:cNvSpPr txBox="1"/>
          <p:nvPr/>
        </p:nvSpPr>
        <p:spPr>
          <a:xfrm>
            <a:off x="6300000" y="3024000"/>
            <a:ext cx="385200" cy="385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  <a:endParaRPr lang="en-US" sz="1300" dirty="0"/>
          </a:p>
        </p:txBody>
      </p:sp>
      <p:sp>
        <p:nvSpPr>
          <p:cNvPr id="20" name="Text 20"/>
          <p:cNvSpPr txBox="1"/>
          <p:nvPr/>
        </p:nvSpPr>
        <p:spPr>
          <a:xfrm>
            <a:off x="6876000" y="2970000"/>
            <a:ext cx="4644000" cy="25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41414"/>
                </a:solidFill>
                <a:latin typeface="Courier New"/>
                <a:ea typeface="Courier New"/>
                <a:cs typeface="Courier New"/>
              </a:rPr>
              <a:t>/ingest</a:t>
            </a:r>
            <a:endParaRPr lang="en-US" sz="1450" dirty="0"/>
          </a:p>
        </p:txBody>
      </p:sp>
      <p:sp>
        <p:nvSpPr>
          <p:cNvPr id="21" name="Text 21"/>
          <p:cNvSpPr txBox="1"/>
          <p:nvPr/>
        </p:nvSpPr>
        <p:spPr>
          <a:xfrm>
            <a:off x="6876000" y="3258000"/>
            <a:ext cx="4644000" cy="52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Drop a document into inbox/. The original is filed, a source page written, and </a:t>
            </a:r>
            <a:r>
              <a:rPr lang="en-US" sz="1200" b="1" dirty="0">
                <a:solidFill>
                  <a:srgbClr val="C1121F"/>
                </a:solidFill>
                <a:latin typeface="Calibri"/>
                <a:ea typeface="Calibri"/>
                <a:cs typeface="Calibri"/>
              </a:rPr>
              <a:t>only the affected pages</a:t>
            </a:r>
            <a:r>
              <a:rPr lang="en-US" sz="1200" dirty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 updated.</a:t>
            </a:r>
            <a:endParaRPr lang="en-US" sz="1200" dirty="0"/>
          </a:p>
        </p:txBody>
      </p:sp>
      <p:sp>
        <p:nvSpPr>
          <p:cNvPr id="22" name="Shape 22"/>
          <p:cNvSpPr/>
          <p:nvPr/>
        </p:nvSpPr>
        <p:spPr>
          <a:xfrm>
            <a:off x="6300000" y="3924000"/>
            <a:ext cx="385200" cy="385200"/>
          </a:xfrm>
          <a:prstGeom prst="ellipse">
            <a:avLst/>
          </a:prstGeom>
          <a:solidFill>
            <a:srgbClr val="C1121F"/>
          </a:solidFill>
          <a:ln w="12700">
            <a:solidFill>
              <a:srgbClr val="C1121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3"/>
          <p:cNvSpPr txBox="1"/>
          <p:nvPr/>
        </p:nvSpPr>
        <p:spPr>
          <a:xfrm>
            <a:off x="6300000" y="3924000"/>
            <a:ext cx="385200" cy="385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  <a:endParaRPr lang="en-US" sz="1300" dirty="0"/>
          </a:p>
        </p:txBody>
      </p:sp>
      <p:sp>
        <p:nvSpPr>
          <p:cNvPr id="24" name="Text 24"/>
          <p:cNvSpPr txBox="1"/>
          <p:nvPr/>
        </p:nvSpPr>
        <p:spPr>
          <a:xfrm>
            <a:off x="6876000" y="3870000"/>
            <a:ext cx="4644000" cy="25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41414"/>
                </a:solidFill>
                <a:latin typeface="Courier New"/>
                <a:ea typeface="Courier New"/>
                <a:cs typeface="Courier New"/>
              </a:rPr>
              <a:t>/query</a:t>
            </a:r>
            <a:endParaRPr lang="en-US" sz="1450" dirty="0"/>
          </a:p>
        </p:txBody>
      </p:sp>
      <p:sp>
        <p:nvSpPr>
          <p:cNvPr id="25" name="Text 25"/>
          <p:cNvSpPr txBox="1"/>
          <p:nvPr/>
        </p:nvSpPr>
        <p:spPr>
          <a:xfrm>
            <a:off x="6876000" y="4158000"/>
            <a:ext cx="4644000" cy="52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Answered from the pages, </a:t>
            </a:r>
            <a:r>
              <a:rPr lang="en-US" sz="1200" b="1" dirty="0">
                <a:solidFill>
                  <a:srgbClr val="C1121F"/>
                </a:solidFill>
                <a:latin typeface="Calibri"/>
                <a:ea typeface="Calibri"/>
                <a:cs typeface="Calibri"/>
              </a:rPr>
              <a:t>with links and a confidence level</a:t>
            </a:r>
            <a:r>
              <a:rPr lang="en-US" sz="1200" dirty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. A durable answer becomes a page.</a:t>
            </a:r>
            <a:endParaRPr lang="en-US" sz="1200" dirty="0"/>
          </a:p>
        </p:txBody>
      </p:sp>
      <p:sp>
        <p:nvSpPr>
          <p:cNvPr id="26" name="Shape 26"/>
          <p:cNvSpPr/>
          <p:nvPr/>
        </p:nvSpPr>
        <p:spPr>
          <a:xfrm>
            <a:off x="6300000" y="4824000"/>
            <a:ext cx="385200" cy="385200"/>
          </a:xfrm>
          <a:prstGeom prst="ellipse">
            <a:avLst/>
          </a:prstGeom>
          <a:solidFill>
            <a:srgbClr val="141414"/>
          </a:solidFill>
          <a:ln w="12700">
            <a:solidFill>
              <a:srgbClr val="14141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7"/>
          <p:cNvSpPr txBox="1"/>
          <p:nvPr/>
        </p:nvSpPr>
        <p:spPr>
          <a:xfrm>
            <a:off x="6300000" y="4824000"/>
            <a:ext cx="385200" cy="385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4</a:t>
            </a:r>
            <a:endParaRPr lang="en-US" sz="1300" dirty="0"/>
          </a:p>
        </p:txBody>
      </p:sp>
      <p:sp>
        <p:nvSpPr>
          <p:cNvPr id="28" name="Text 28"/>
          <p:cNvSpPr txBox="1"/>
          <p:nvPr/>
        </p:nvSpPr>
        <p:spPr>
          <a:xfrm>
            <a:off x="6876000" y="4770000"/>
            <a:ext cx="4644000" cy="25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41414"/>
                </a:solidFill>
                <a:latin typeface="Courier New"/>
                <a:ea typeface="Courier New"/>
                <a:cs typeface="Courier New"/>
              </a:rPr>
              <a:t>/lint</a:t>
            </a:r>
            <a:endParaRPr lang="en-US" sz="1450" dirty="0"/>
          </a:p>
        </p:txBody>
      </p:sp>
      <p:sp>
        <p:nvSpPr>
          <p:cNvPr id="29" name="Text 29"/>
          <p:cNvSpPr txBox="1"/>
          <p:nvPr/>
        </p:nvSpPr>
        <p:spPr>
          <a:xfrm>
            <a:off x="6876000" y="5058000"/>
            <a:ext cx="4644000" cy="52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Contradictions, staleness, orphans, gaps — plus the </a:t>
            </a:r>
            <a:r>
              <a:rPr lang="en-US" sz="1200" b="1" dirty="0">
                <a:solidFill>
                  <a:srgbClr val="C1121F"/>
                </a:solidFill>
                <a:latin typeface="Calibri"/>
                <a:ea typeface="Calibri"/>
                <a:cs typeface="Calibri"/>
              </a:rPr>
              <a:t>OKF v0.2 reassessment</a:t>
            </a:r>
            <a:r>
              <a:rPr lang="en-US" sz="1200" dirty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, filed as a report.</a:t>
            </a:r>
            <a:endParaRPr lang="en-US" sz="1200" dirty="0"/>
          </a:p>
        </p:txBody>
      </p:sp>
      <p:sp>
        <p:nvSpPr>
          <p:cNvPr id="30" name="Shape 30"/>
          <p:cNvSpPr/>
          <p:nvPr/>
        </p:nvSpPr>
        <p:spPr>
          <a:xfrm>
            <a:off x="648000" y="5778000"/>
            <a:ext cx="10872000" cy="684000"/>
          </a:xfrm>
          <a:prstGeom prst="roundRect">
            <a:avLst>
              <a:gd name="adj" fmla="val 7500"/>
            </a:avLst>
          </a:prstGeom>
          <a:solidFill>
            <a:srgbClr val="C1121F"/>
          </a:solidFill>
          <a:ln w="12700">
            <a:solidFill>
              <a:srgbClr val="C1121F"/>
            </a:solidFill>
            <a:prstDash val="solid"/>
          </a:ln>
          <a:effectLst>
            <a:outerShdw blurRad="889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Text 31"/>
          <p:cNvSpPr txBox="1"/>
          <p:nvPr/>
        </p:nvSpPr>
        <p:spPr>
          <a:xfrm>
            <a:off x="972000" y="5778000"/>
            <a:ext cx="10224000" cy="68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Try it:  </a:t>
            </a:r>
            <a:r>
              <a:rPr lang="en-US" sz="1300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Repository </a:t>
            </a:r>
            <a:r>
              <a:rPr lang="en-US" sz="1300" b="1" dirty="0">
                <a:solidFill>
                  <a:srgbClr val="FFFFFF"/>
                </a:solidFill>
                <a:latin typeface="Calibri"/>
                <a:ea typeface="Calibri"/>
                <a:cs typeface="Calibri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github.com/marcelRonner/okf-llm-wiki</a:t>
            </a:r>
            <a:r>
              <a:rPr lang="en-US" sz="1300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    ·     Live wiki </a:t>
            </a:r>
            <a:r>
              <a:rPr lang="en-US" sz="1300" b="1" dirty="0">
                <a:solidFill>
                  <a:srgbClr val="FFFFFF"/>
                </a:solidFill>
                <a:latin typeface="Calibri"/>
                <a:ea typeface="Calibri"/>
                <a:cs typeface="Calibri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www.wlrm.ch/okf-llm-wiki</a:t>
            </a:r>
            <a:endParaRPr lang="en-US" sz="1300" dirty="0"/>
          </a:p>
        </p:txBody>
      </p:sp>
      <p:sp>
        <p:nvSpPr>
          <p:cNvPr id="32" name="Agenda 32"/>
          <p:cNvSpPr txBox="1"/>
          <p:nvPr/>
        </p:nvSpPr>
        <p:spPr>
          <a:xfrm>
            <a:off x="648000" y="136800"/>
            <a:ext cx="2439000" cy="1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spc="100" dirty="0">
                <a:solidFill>
                  <a:srgbClr val="9A9A9A"/>
                </a:solidFill>
                <a:latin typeface="Calibri"/>
                <a:ea typeface="Calibri"/>
                <a:cs typeface="Calibri"/>
              </a:rPr>
              <a:t>01  </a:t>
            </a:r>
            <a:r>
              <a:rPr lang="en-US" sz="850" spc="100" dirty="0">
                <a:solidFill>
                  <a:srgbClr val="9A9A9A"/>
                </a:solidFill>
                <a:latin typeface="Calibri"/>
                <a:ea typeface="Calibri"/>
                <a:cs typeface="Calibri"/>
              </a:rPr>
              <a:t>CONTEXT ENGINEERING</a:t>
            </a:r>
          </a:p>
        </p:txBody>
      </p:sp>
      <p:sp>
        <p:nvSpPr>
          <p:cNvPr id="33" name="Agenda 33"/>
          <p:cNvSpPr/>
          <p:nvPr/>
        </p:nvSpPr>
        <p:spPr>
          <a:xfrm>
            <a:off x="648000" y="331200"/>
            <a:ext cx="2439000" cy="21600"/>
          </a:xfrm>
          <a:prstGeom prst="rect">
            <a:avLst/>
          </a:prstGeom>
          <a:solidFill>
            <a:srgbClr val="E2E2E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4" name="Agenda 34"/>
          <p:cNvSpPr txBox="1"/>
          <p:nvPr/>
        </p:nvSpPr>
        <p:spPr>
          <a:xfrm>
            <a:off x="3195000" y="136800"/>
            <a:ext cx="2439000" cy="1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spc="100" dirty="0">
                <a:solidFill>
                  <a:srgbClr val="C1121F"/>
                </a:solidFill>
                <a:latin typeface="Calibri"/>
                <a:ea typeface="Calibri"/>
                <a:cs typeface="Calibri"/>
              </a:rPr>
              <a:t>02  LLM WIKI</a:t>
            </a:r>
          </a:p>
        </p:txBody>
      </p:sp>
      <p:sp>
        <p:nvSpPr>
          <p:cNvPr id="35" name="Agenda 35"/>
          <p:cNvSpPr/>
          <p:nvPr/>
        </p:nvSpPr>
        <p:spPr>
          <a:xfrm>
            <a:off x="3195000" y="331200"/>
            <a:ext cx="2439000" cy="43200"/>
          </a:xfrm>
          <a:prstGeom prst="rect">
            <a:avLst/>
          </a:prstGeom>
          <a:solidFill>
            <a:srgbClr val="C1121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6" name="Agenda 36"/>
          <p:cNvSpPr txBox="1"/>
          <p:nvPr/>
        </p:nvSpPr>
        <p:spPr>
          <a:xfrm>
            <a:off x="5742000" y="136800"/>
            <a:ext cx="2439000" cy="1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spc="100" dirty="0">
                <a:solidFill>
                  <a:srgbClr val="9A9A9A"/>
                </a:solidFill>
                <a:latin typeface="Calibri"/>
                <a:ea typeface="Calibri"/>
                <a:cs typeface="Calibri"/>
              </a:rPr>
              <a:t>03  </a:t>
            </a:r>
            <a:r>
              <a:rPr lang="en-US" sz="850" spc="100" dirty="0">
                <a:solidFill>
                  <a:srgbClr val="9A9A9A"/>
                </a:solidFill>
                <a:latin typeface="Calibri"/>
                <a:ea typeface="Calibri"/>
                <a:cs typeface="Calibri"/>
              </a:rPr>
              <a:t>OKF PRODUCT DOCUMENTATION</a:t>
            </a:r>
          </a:p>
        </p:txBody>
      </p:sp>
      <p:sp>
        <p:nvSpPr>
          <p:cNvPr id="37" name="Agenda 37"/>
          <p:cNvSpPr/>
          <p:nvPr/>
        </p:nvSpPr>
        <p:spPr>
          <a:xfrm>
            <a:off x="5742000" y="331200"/>
            <a:ext cx="2439000" cy="21600"/>
          </a:xfrm>
          <a:prstGeom prst="rect">
            <a:avLst/>
          </a:prstGeom>
          <a:solidFill>
            <a:srgbClr val="E2E2E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8" name="Agenda 38"/>
          <p:cNvSpPr txBox="1"/>
          <p:nvPr/>
        </p:nvSpPr>
        <p:spPr>
          <a:xfrm>
            <a:off x="8289000" y="136800"/>
            <a:ext cx="2439000" cy="1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spc="100" dirty="0">
                <a:solidFill>
                  <a:srgbClr val="9A9A9A"/>
                </a:solidFill>
                <a:latin typeface="Calibri"/>
                <a:ea typeface="Calibri"/>
                <a:cs typeface="Calibri"/>
              </a:rPr>
              <a:t>04  </a:t>
            </a:r>
            <a:r>
              <a:rPr lang="en-US" sz="850" spc="100" dirty="0">
                <a:solidFill>
                  <a:srgbClr val="9A9A9A"/>
                </a:solidFill>
                <a:latin typeface="Calibri"/>
                <a:ea typeface="Calibri"/>
                <a:cs typeface="Calibri"/>
              </a:rPr>
              <a:t>CONCLUSION</a:t>
            </a:r>
          </a:p>
        </p:txBody>
      </p:sp>
      <p:sp>
        <p:nvSpPr>
          <p:cNvPr id="39" name="Agenda 39"/>
          <p:cNvSpPr/>
          <p:nvPr/>
        </p:nvSpPr>
        <p:spPr>
          <a:xfrm>
            <a:off x="8289000" y="331200"/>
            <a:ext cx="2439000" cy="21600"/>
          </a:xfrm>
          <a:prstGeom prst="rect">
            <a:avLst/>
          </a:prstGeom>
          <a:solidFill>
            <a:srgbClr val="E2E2E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8856000" y="-1152000"/>
            <a:ext cx="4932000" cy="4932000"/>
          </a:xfrm>
          <a:prstGeom prst="ellipse">
            <a:avLst/>
          </a:prstGeom>
          <a:solidFill>
            <a:srgbClr val="C1121F"/>
          </a:solidFill>
          <a:ln w="12700">
            <a:solidFill>
              <a:srgbClr val="C1121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3"/>
          <p:cNvSpPr/>
          <p:nvPr/>
        </p:nvSpPr>
        <p:spPr>
          <a:xfrm>
            <a:off x="10692000" y="4392000"/>
            <a:ext cx="2916000" cy="2916000"/>
          </a:xfrm>
          <a:prstGeom prst="ellipse">
            <a:avLst/>
          </a:prstGeom>
          <a:solidFill>
            <a:srgbClr val="8B0D14"/>
          </a:solidFill>
          <a:ln w="12700">
            <a:solidFill>
              <a:srgbClr val="8B0D14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5"/>
          <p:cNvSpPr txBox="1"/>
          <p:nvPr/>
        </p:nvSpPr>
        <p:spPr>
          <a:xfrm>
            <a:off x="828000" y="2088000"/>
            <a:ext cx="7740000" cy="86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spc="0" dirty="0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OKF Product Documentation</a:t>
            </a:r>
          </a:p>
        </p:txBody>
      </p:sp>
      <p:sp>
        <p:nvSpPr>
          <p:cNvPr id="6" name="Text 6"/>
          <p:cNvSpPr txBox="1"/>
          <p:nvPr/>
        </p:nvSpPr>
        <p:spPr>
          <a:xfrm>
            <a:off x="828000" y="2952000"/>
            <a:ext cx="7740000" cy="43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spc="0" dirty="0">
                <a:solidFill>
                  <a:srgbClr val="D6D6D6"/>
                </a:solidFill>
                <a:latin typeface="Calibri"/>
                <a:ea typeface="Calibri"/>
                <a:cs typeface="Calibri"/>
              </a:rPr>
              <a:t>Google's Open Knowledge Format, its 41 checks, and the ATM example</a:t>
            </a:r>
          </a:p>
        </p:txBody>
      </p:sp>
      <p:sp>
        <p:nvSpPr>
          <p:cNvPr id="7" name="Agenda 7"/>
          <p:cNvSpPr/>
          <p:nvPr/>
        </p:nvSpPr>
        <p:spPr>
          <a:xfrm>
            <a:off x="828000" y="3672000"/>
            <a:ext cx="936000" cy="43200"/>
          </a:xfrm>
          <a:prstGeom prst="rect">
            <a:avLst/>
          </a:prstGeom>
          <a:solidFill>
            <a:srgbClr val="C1121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" name="Agenda 8"/>
          <p:cNvSpPr txBox="1"/>
          <p:nvPr/>
        </p:nvSpPr>
        <p:spPr>
          <a:xfrm>
            <a:off x="1044000" y="4032000"/>
            <a:ext cx="576000" cy="3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spc="0" dirty="0">
                <a:solidFill>
                  <a:srgbClr val="6E6E6E"/>
                </a:solidFill>
                <a:latin typeface="Cambria"/>
                <a:ea typeface="Cambria"/>
                <a:cs typeface="Cambria"/>
              </a:rPr>
              <a:t>01</a:t>
            </a:r>
          </a:p>
        </p:txBody>
      </p:sp>
      <p:sp>
        <p:nvSpPr>
          <p:cNvPr id="9" name="Agenda 9"/>
          <p:cNvSpPr txBox="1"/>
          <p:nvPr/>
        </p:nvSpPr>
        <p:spPr>
          <a:xfrm>
            <a:off x="1584000" y="4032000"/>
            <a:ext cx="6480000" cy="3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spc="0" dirty="0">
                <a:solidFill>
                  <a:srgbClr val="8A8A8A"/>
                </a:solidFill>
                <a:latin typeface="Calibri"/>
                <a:ea typeface="Calibri"/>
                <a:cs typeface="Calibri"/>
              </a:rPr>
              <a:t>Context Engineering</a:t>
            </a:r>
          </a:p>
        </p:txBody>
      </p:sp>
      <p:sp>
        <p:nvSpPr>
          <p:cNvPr id="10" name="Agenda 10"/>
          <p:cNvSpPr txBox="1"/>
          <p:nvPr/>
        </p:nvSpPr>
        <p:spPr>
          <a:xfrm>
            <a:off x="1044000" y="4482000"/>
            <a:ext cx="576000" cy="3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spc="0" dirty="0">
                <a:solidFill>
                  <a:srgbClr val="6E6E6E"/>
                </a:solidFill>
                <a:latin typeface="Cambria"/>
                <a:ea typeface="Cambria"/>
                <a:cs typeface="Cambria"/>
              </a:rPr>
              <a:t>02</a:t>
            </a:r>
          </a:p>
        </p:txBody>
      </p:sp>
      <p:sp>
        <p:nvSpPr>
          <p:cNvPr id="11" name="Agenda 11"/>
          <p:cNvSpPr txBox="1"/>
          <p:nvPr/>
        </p:nvSpPr>
        <p:spPr>
          <a:xfrm>
            <a:off x="1584000" y="4482000"/>
            <a:ext cx="6480000" cy="3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spc="0" dirty="0">
                <a:solidFill>
                  <a:srgbClr val="8A8A8A"/>
                </a:solidFill>
                <a:latin typeface="Calibri"/>
                <a:ea typeface="Calibri"/>
                <a:cs typeface="Calibri"/>
              </a:rPr>
              <a:t>LLM Wiki</a:t>
            </a:r>
          </a:p>
        </p:txBody>
      </p:sp>
      <p:sp>
        <p:nvSpPr>
          <p:cNvPr id="12" name="Agenda 12"/>
          <p:cNvSpPr/>
          <p:nvPr/>
        </p:nvSpPr>
        <p:spPr>
          <a:xfrm>
            <a:off x="828000" y="4975200"/>
            <a:ext cx="43200" cy="273600"/>
          </a:xfrm>
          <a:prstGeom prst="rect">
            <a:avLst/>
          </a:prstGeom>
          <a:solidFill>
            <a:srgbClr val="C1121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" name="Agenda 13"/>
          <p:cNvSpPr txBox="1"/>
          <p:nvPr/>
        </p:nvSpPr>
        <p:spPr>
          <a:xfrm>
            <a:off x="1044000" y="4932000"/>
            <a:ext cx="576000" cy="3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spc="0" dirty="0">
                <a:solidFill>
                  <a:srgbClr val="C1121F"/>
                </a:solidFill>
                <a:latin typeface="Cambria"/>
                <a:ea typeface="Cambria"/>
                <a:cs typeface="Cambria"/>
              </a:rPr>
              <a:t>03</a:t>
            </a:r>
          </a:p>
        </p:txBody>
      </p:sp>
      <p:sp>
        <p:nvSpPr>
          <p:cNvPr id="14" name="Agenda 14"/>
          <p:cNvSpPr txBox="1"/>
          <p:nvPr/>
        </p:nvSpPr>
        <p:spPr>
          <a:xfrm>
            <a:off x="1584000" y="4932000"/>
            <a:ext cx="6480000" cy="3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spc="0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OKF Product Documentation</a:t>
            </a:r>
          </a:p>
        </p:txBody>
      </p:sp>
      <p:sp>
        <p:nvSpPr>
          <p:cNvPr id="15" name="Agenda 15"/>
          <p:cNvSpPr txBox="1"/>
          <p:nvPr/>
        </p:nvSpPr>
        <p:spPr>
          <a:xfrm>
            <a:off x="1044000" y="5382000"/>
            <a:ext cx="576000" cy="3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spc="0" dirty="0">
                <a:solidFill>
                  <a:srgbClr val="6E6E6E"/>
                </a:solidFill>
                <a:latin typeface="Cambria"/>
                <a:ea typeface="Cambria"/>
                <a:cs typeface="Cambria"/>
              </a:rPr>
              <a:t>04</a:t>
            </a:r>
          </a:p>
        </p:txBody>
      </p:sp>
      <p:sp>
        <p:nvSpPr>
          <p:cNvPr id="16" name="Agenda 16"/>
          <p:cNvSpPr txBox="1"/>
          <p:nvPr/>
        </p:nvSpPr>
        <p:spPr>
          <a:xfrm>
            <a:off x="1584000" y="5382000"/>
            <a:ext cx="6480000" cy="3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spc="0" dirty="0">
                <a:solidFill>
                  <a:srgbClr val="8A8A8A"/>
                </a:solidFill>
                <a:latin typeface="Calibri"/>
                <a:ea typeface="Calibri"/>
                <a:cs typeface="Calibri"/>
              </a:rPr>
              <a:t>Conclusion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414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Google's Open Knowledge Format (OKF)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115568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Turns the LLM wiki pattern from a personal convention into a portable spec — v0.2, July 2026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10881360" cy="731520"/>
          </a:xfrm>
          <a:prstGeom prst="roundRect">
            <a:avLst>
              <a:gd name="adj" fmla="val 7500"/>
            </a:avLst>
          </a:prstGeom>
          <a:solidFill>
            <a:srgbClr val="141414"/>
          </a:solidFill>
          <a:ln w="12700">
            <a:solidFill>
              <a:srgbClr val="141414"/>
            </a:solidFill>
            <a:prstDash val="solid"/>
          </a:ln>
          <a:effectLst>
            <a:outerShdw blurRad="889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960120" y="1783080"/>
            <a:ext cx="10241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bundle is a directory of markdown files with YAML frontmatter. One required field: </a:t>
            </a: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</a:t>
            </a: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No SDK, no registry, no runtime.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2788920"/>
            <a:ext cx="5212080" cy="1005840"/>
          </a:xfrm>
          <a:prstGeom prst="roundRect">
            <a:avLst>
              <a:gd name="adj" fmla="val 5455"/>
            </a:avLst>
          </a:prstGeom>
          <a:solidFill>
            <a:srgbClr val="EAEAEA"/>
          </a:solidFill>
          <a:ln w="12700">
            <a:solidFill>
              <a:srgbClr val="EAEAEA"/>
            </a:solidFill>
            <a:prstDash val="solid"/>
          </a:ln>
          <a:effectLst>
            <a:outerShdw blurRad="889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914400" y="2916936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11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path = identity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3209544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concept is </a:t>
            </a:r>
            <a:r>
              <a:rPr lang="en-US" sz="1200" b="1" dirty="0">
                <a:solidFill>
                  <a:srgbClr val="C11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file</a:t>
            </a: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; its path is its stable ID.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309360" y="2788920"/>
            <a:ext cx="5212080" cy="1005840"/>
          </a:xfrm>
          <a:prstGeom prst="roundRect">
            <a:avLst>
              <a:gd name="adj" fmla="val 5455"/>
            </a:avLst>
          </a:prstGeom>
          <a:solidFill>
            <a:srgbClr val="F4F4F4"/>
          </a:solidFill>
          <a:ln w="12700">
            <a:solidFill>
              <a:srgbClr val="F4F4F4"/>
            </a:solidFill>
            <a:prstDash val="solid"/>
          </a:ln>
          <a:effectLst>
            <a:outerShdw blurRad="889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6583680" y="2916936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11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Markdown links = the graph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6583680" y="3209544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Relationships are ordinary links. </a:t>
            </a:r>
            <a:r>
              <a:rPr lang="en-US" sz="1200" b="1" dirty="0">
                <a:solidFill>
                  <a:srgbClr val="C11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Broken links are tolerated</a:t>
            </a: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they mark knowledge not yet written.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40080" y="3959352"/>
            <a:ext cx="5212080" cy="1005840"/>
          </a:xfrm>
          <a:prstGeom prst="roundRect">
            <a:avLst>
              <a:gd name="adj" fmla="val 5455"/>
            </a:avLst>
          </a:prstGeom>
          <a:solidFill>
            <a:srgbClr val="EAEAEA"/>
          </a:solidFill>
          <a:ln w="12700">
            <a:solidFill>
              <a:srgbClr val="EAEAEA"/>
            </a:solidFill>
            <a:prstDash val="solid"/>
          </a:ln>
          <a:effectLst>
            <a:outerShdw blurRad="889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 txBox="1"/>
          <p:nvPr/>
        </p:nvSpPr>
        <p:spPr>
          <a:xfrm>
            <a:off x="914400" y="4087368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11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index.md / log.md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914400" y="4379976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Reserved, optional files for </a:t>
            </a:r>
            <a:r>
              <a:rPr lang="en-US" sz="1200" b="1" dirty="0">
                <a:solidFill>
                  <a:srgbClr val="C11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progressive disclosure</a:t>
            </a: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and change history.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309360" y="3959352"/>
            <a:ext cx="5212080" cy="1005840"/>
          </a:xfrm>
          <a:prstGeom prst="roundRect">
            <a:avLst>
              <a:gd name="adj" fmla="val 5455"/>
            </a:avLst>
          </a:prstGeom>
          <a:solidFill>
            <a:srgbClr val="F4F4F4"/>
          </a:solidFill>
          <a:ln w="12700">
            <a:solidFill>
              <a:srgbClr val="F4F4F4"/>
            </a:solidFill>
            <a:prstDash val="solid"/>
          </a:ln>
          <a:effectLst>
            <a:outerShdw blurRad="889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 txBox="1"/>
          <p:nvPr/>
        </p:nvSpPr>
        <p:spPr>
          <a:xfrm>
            <a:off x="6583680" y="4087368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11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Permissive by design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6583680" y="4379976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Consumers </a:t>
            </a:r>
            <a:r>
              <a:rPr lang="en-US" sz="1200" b="1" dirty="0">
                <a:solidFill>
                  <a:srgbClr val="C11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 not reject</a:t>
            </a: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unknown types, extra keys or missing optional fields.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40080" y="5129784"/>
            <a:ext cx="5212080" cy="1005840"/>
          </a:xfrm>
          <a:prstGeom prst="roundRect">
            <a:avLst>
              <a:gd name="adj" fmla="val 5455"/>
            </a:avLst>
          </a:prstGeom>
          <a:solidFill>
            <a:srgbClr val="EAEAEA"/>
          </a:solidFill>
          <a:ln w="12700">
            <a:solidFill>
              <a:srgbClr val="EAEAEA"/>
            </a:solidFill>
            <a:prstDash val="solid"/>
          </a:ln>
          <a:effectLst>
            <a:outerShdw blurRad="889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 txBox="1"/>
          <p:nvPr/>
        </p:nvSpPr>
        <p:spPr>
          <a:xfrm>
            <a:off x="914400" y="5257800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11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Ships like code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914400" y="5550408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repo, tarball, or a folder in an existing repo. </a:t>
            </a:r>
            <a:r>
              <a:rPr lang="en-US" sz="1200" b="1" dirty="0">
                <a:solidFill>
                  <a:srgbClr val="C11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Renders on GitHub</a:t>
            </a: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309360" y="5129784"/>
            <a:ext cx="5212080" cy="1005840"/>
          </a:xfrm>
          <a:prstGeom prst="roundRect">
            <a:avLst>
              <a:gd name="adj" fmla="val 5455"/>
            </a:avLst>
          </a:prstGeom>
          <a:solidFill>
            <a:srgbClr val="F4F4F4"/>
          </a:solidFill>
          <a:ln w="12700">
            <a:solidFill>
              <a:srgbClr val="F4F4F4"/>
            </a:solidFill>
            <a:prstDash val="solid"/>
          </a:ln>
          <a:effectLst>
            <a:outerShdw blurRad="889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 txBox="1"/>
          <p:nvPr/>
        </p:nvSpPr>
        <p:spPr>
          <a:xfrm>
            <a:off x="6583680" y="5257800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11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Vendor-neutral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6583680" y="5550408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11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Apache-2.0</a:t>
            </a: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repo, no central authority. Google ships a visualizer and a reference agent; tools built outside Google exist too.</a:t>
            </a:r>
            <a:endParaRPr lang="en-US" sz="1200" dirty="0"/>
          </a:p>
        </p:txBody>
      </p:sp>
      <p:sp>
        <p:nvSpPr>
          <p:cNvPr id="24" name="Agenda 24"/>
          <p:cNvSpPr txBox="1"/>
          <p:nvPr/>
        </p:nvSpPr>
        <p:spPr>
          <a:xfrm>
            <a:off x="648000" y="136800"/>
            <a:ext cx="2439000" cy="1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spc="100" dirty="0">
                <a:solidFill>
                  <a:srgbClr val="9A9A9A"/>
                </a:solidFill>
                <a:latin typeface="Calibri"/>
                <a:ea typeface="Calibri"/>
                <a:cs typeface="Calibri"/>
              </a:rPr>
              <a:t>01  </a:t>
            </a:r>
            <a:r>
              <a:rPr lang="en-US" sz="850" spc="100" dirty="0">
                <a:solidFill>
                  <a:srgbClr val="9A9A9A"/>
                </a:solidFill>
                <a:latin typeface="Calibri"/>
                <a:ea typeface="Calibri"/>
                <a:cs typeface="Calibri"/>
              </a:rPr>
              <a:t>CONTEXT ENGINEERING</a:t>
            </a:r>
          </a:p>
        </p:txBody>
      </p:sp>
      <p:sp>
        <p:nvSpPr>
          <p:cNvPr id="25" name="Agenda 25"/>
          <p:cNvSpPr/>
          <p:nvPr/>
        </p:nvSpPr>
        <p:spPr>
          <a:xfrm>
            <a:off x="648000" y="331200"/>
            <a:ext cx="2439000" cy="21600"/>
          </a:xfrm>
          <a:prstGeom prst="rect">
            <a:avLst/>
          </a:prstGeom>
          <a:solidFill>
            <a:srgbClr val="E2E2E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6" name="Agenda 26"/>
          <p:cNvSpPr txBox="1"/>
          <p:nvPr/>
        </p:nvSpPr>
        <p:spPr>
          <a:xfrm>
            <a:off x="3195000" y="136800"/>
            <a:ext cx="2439000" cy="1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spc="100" dirty="0">
                <a:solidFill>
                  <a:srgbClr val="9A9A9A"/>
                </a:solidFill>
                <a:latin typeface="Calibri"/>
                <a:ea typeface="Calibri"/>
                <a:cs typeface="Calibri"/>
              </a:rPr>
              <a:t>02  </a:t>
            </a:r>
            <a:r>
              <a:rPr lang="en-US" sz="850" spc="100" dirty="0">
                <a:solidFill>
                  <a:srgbClr val="9A9A9A"/>
                </a:solidFill>
                <a:latin typeface="Calibri"/>
                <a:ea typeface="Calibri"/>
                <a:cs typeface="Calibri"/>
              </a:rPr>
              <a:t>LLM WIKI</a:t>
            </a:r>
          </a:p>
        </p:txBody>
      </p:sp>
      <p:sp>
        <p:nvSpPr>
          <p:cNvPr id="27" name="Agenda 27"/>
          <p:cNvSpPr/>
          <p:nvPr/>
        </p:nvSpPr>
        <p:spPr>
          <a:xfrm>
            <a:off x="3195000" y="331200"/>
            <a:ext cx="2439000" cy="21600"/>
          </a:xfrm>
          <a:prstGeom prst="rect">
            <a:avLst/>
          </a:prstGeom>
          <a:solidFill>
            <a:srgbClr val="E2E2E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8" name="Agenda 28"/>
          <p:cNvSpPr txBox="1"/>
          <p:nvPr/>
        </p:nvSpPr>
        <p:spPr>
          <a:xfrm>
            <a:off x="5742000" y="136800"/>
            <a:ext cx="2439000" cy="1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spc="100" dirty="0">
                <a:solidFill>
                  <a:srgbClr val="C1121F"/>
                </a:solidFill>
                <a:latin typeface="Calibri"/>
                <a:ea typeface="Calibri"/>
                <a:cs typeface="Calibri"/>
              </a:rPr>
              <a:t>03  OKF PRODUCT DOCUMENTATION</a:t>
            </a:r>
          </a:p>
        </p:txBody>
      </p:sp>
      <p:sp>
        <p:nvSpPr>
          <p:cNvPr id="29" name="Agenda 29"/>
          <p:cNvSpPr/>
          <p:nvPr/>
        </p:nvSpPr>
        <p:spPr>
          <a:xfrm>
            <a:off x="5742000" y="331200"/>
            <a:ext cx="2439000" cy="43200"/>
          </a:xfrm>
          <a:prstGeom prst="rect">
            <a:avLst/>
          </a:prstGeom>
          <a:solidFill>
            <a:srgbClr val="C1121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0" name="Agenda 30"/>
          <p:cNvSpPr txBox="1"/>
          <p:nvPr/>
        </p:nvSpPr>
        <p:spPr>
          <a:xfrm>
            <a:off x="8289000" y="136800"/>
            <a:ext cx="2439000" cy="1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spc="100" dirty="0">
                <a:solidFill>
                  <a:srgbClr val="9A9A9A"/>
                </a:solidFill>
                <a:latin typeface="Calibri"/>
                <a:ea typeface="Calibri"/>
                <a:cs typeface="Calibri"/>
              </a:rPr>
              <a:t>04  </a:t>
            </a:r>
            <a:r>
              <a:rPr lang="en-US" sz="850" spc="100" dirty="0">
                <a:solidFill>
                  <a:srgbClr val="9A9A9A"/>
                </a:solidFill>
                <a:latin typeface="Calibri"/>
                <a:ea typeface="Calibri"/>
                <a:cs typeface="Calibri"/>
              </a:rPr>
              <a:t>CONCLUSION</a:t>
            </a:r>
          </a:p>
        </p:txBody>
      </p:sp>
      <p:sp>
        <p:nvSpPr>
          <p:cNvPr id="31" name="Agenda 31"/>
          <p:cNvSpPr/>
          <p:nvPr/>
        </p:nvSpPr>
        <p:spPr>
          <a:xfrm>
            <a:off x="8289000" y="331200"/>
            <a:ext cx="2439000" cy="21600"/>
          </a:xfrm>
          <a:prstGeom prst="rect">
            <a:avLst/>
          </a:prstGeom>
          <a:solidFill>
            <a:srgbClr val="E2E2E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414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OKF adds beyond the gist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115568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questions you have to answer once agents, not people, are writing the corpus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10881360" cy="1024128"/>
          </a:xfrm>
          <a:prstGeom prst="roundRect">
            <a:avLst>
              <a:gd name="adj" fmla="val 5357"/>
            </a:avLst>
          </a:prstGeom>
          <a:solidFill>
            <a:srgbClr val="EAEAEA"/>
          </a:solidFill>
          <a:ln w="12700">
            <a:solidFill>
              <a:srgbClr val="EAEAEA"/>
            </a:solidFill>
            <a:prstDash val="solid"/>
          </a:ln>
          <a:effectLst>
            <a:outerShdw blurRad="889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960120" y="1929384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C112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Provenance</a:t>
            </a:r>
            <a:endParaRPr lang="en-US" sz="19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295144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5A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sources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3657600" y="2002536"/>
            <a:ext cx="7589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was this written from? Per-source credibility signals: </a:t>
            </a:r>
            <a:r>
              <a:rPr lang="en-US" sz="1350" b="1" dirty="0">
                <a:solidFill>
                  <a:srgbClr val="C11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author, usage count, last modified</a:t>
            </a: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40080" y="2916936"/>
            <a:ext cx="10881360" cy="1024128"/>
          </a:xfrm>
          <a:prstGeom prst="roundRect">
            <a:avLst>
              <a:gd name="adj" fmla="val 5357"/>
            </a:avLst>
          </a:prstGeom>
          <a:solidFill>
            <a:srgbClr val="F4F4F4"/>
          </a:solidFill>
          <a:ln w="12700">
            <a:solidFill>
              <a:srgbClr val="F4F4F4"/>
            </a:solidFill>
            <a:prstDash val="solid"/>
          </a:ln>
          <a:effectLst>
            <a:outerShdw blurRad="889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960120" y="306324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C112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Trust</a:t>
            </a:r>
            <a:endParaRPr lang="en-US" sz="1900" dirty="0"/>
          </a:p>
        </p:txBody>
      </p:sp>
      <p:sp>
        <p:nvSpPr>
          <p:cNvPr id="10" name="Text 8"/>
          <p:cNvSpPr txBox="1"/>
          <p:nvPr/>
        </p:nvSpPr>
        <p:spPr>
          <a:xfrm>
            <a:off x="960120" y="34290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5A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generated / verified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3657600" y="3136392"/>
            <a:ext cx="7589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wrote it, who confirmed it. Tiers: </a:t>
            </a:r>
            <a:r>
              <a:rPr lang="en-US" sz="1350" b="1" dirty="0">
                <a:solidFill>
                  <a:srgbClr val="C11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unverified → machine-confirmed → human-reviewed</a:t>
            </a: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40080" y="4050792"/>
            <a:ext cx="10881360" cy="1024128"/>
          </a:xfrm>
          <a:prstGeom prst="roundRect">
            <a:avLst>
              <a:gd name="adj" fmla="val 5357"/>
            </a:avLst>
          </a:prstGeom>
          <a:solidFill>
            <a:srgbClr val="EAEAEA"/>
          </a:solidFill>
          <a:ln w="12700">
            <a:solidFill>
              <a:srgbClr val="EAEAEA"/>
            </a:solidFill>
            <a:prstDash val="solid"/>
          </a:ln>
          <a:effectLst>
            <a:outerShdw blurRad="889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 txBox="1"/>
          <p:nvPr/>
        </p:nvSpPr>
        <p:spPr>
          <a:xfrm>
            <a:off x="960120" y="4197096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C112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Lifecycle</a:t>
            </a:r>
            <a:endParaRPr lang="en-US" sz="1900" dirty="0"/>
          </a:p>
        </p:txBody>
      </p:sp>
      <p:sp>
        <p:nvSpPr>
          <p:cNvPr id="14" name="Text 12"/>
          <p:cNvSpPr txBox="1"/>
          <p:nvPr/>
        </p:nvSpPr>
        <p:spPr>
          <a:xfrm>
            <a:off x="960120" y="4562856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5A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status / stale_after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3657600" y="4270248"/>
            <a:ext cx="7589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C11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· stable · deprecated</a:t>
            </a: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plus an absolute instant after which a page counts as stale.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40080" y="5184648"/>
            <a:ext cx="10881360" cy="1024128"/>
          </a:xfrm>
          <a:prstGeom prst="roundRect">
            <a:avLst>
              <a:gd name="adj" fmla="val 5357"/>
            </a:avLst>
          </a:prstGeom>
          <a:solidFill>
            <a:srgbClr val="F4F4F4"/>
          </a:solidFill>
          <a:ln w="12700">
            <a:solidFill>
              <a:srgbClr val="F4F4F4"/>
            </a:solidFill>
            <a:prstDash val="solid"/>
          </a:ln>
          <a:effectLst>
            <a:outerShdw blurRad="889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 txBox="1"/>
          <p:nvPr/>
        </p:nvSpPr>
        <p:spPr>
          <a:xfrm>
            <a:off x="960120" y="5330952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C112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Attestation</a:t>
            </a:r>
            <a:endParaRPr lang="en-US" sz="1900" dirty="0"/>
          </a:p>
        </p:txBody>
      </p:sp>
      <p:sp>
        <p:nvSpPr>
          <p:cNvPr id="18" name="Text 16"/>
          <p:cNvSpPr txBox="1"/>
          <p:nvPr/>
        </p:nvSpPr>
        <p:spPr>
          <a:xfrm>
            <a:off x="960120" y="569671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5A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Attested Computation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3657600" y="5404104"/>
            <a:ext cx="7589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sanctioned way to compute a number, so a consumer can </a:t>
            </a:r>
            <a:r>
              <a:rPr lang="en-US" sz="1350" b="1" dirty="0">
                <a:solidFill>
                  <a:srgbClr val="C11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 the agent ran it</a:t>
            </a: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instead of improvising SQL.</a:t>
            </a:r>
            <a:endParaRPr lang="en-US" sz="1350" dirty="0"/>
          </a:p>
        </p:txBody>
      </p:sp>
      <p:sp>
        <p:nvSpPr>
          <p:cNvPr id="20" name="Text 18"/>
          <p:cNvSpPr txBox="1"/>
          <p:nvPr/>
        </p:nvSpPr>
        <p:spPr>
          <a:xfrm>
            <a:off x="640080" y="640080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of it optional — absence carries meaning rather than causing rejection. A file with only “type” is still conformant.</a:t>
            </a:r>
            <a:endParaRPr lang="en-US" sz="1200" dirty="0"/>
          </a:p>
        </p:txBody>
      </p:sp>
      <p:sp>
        <p:nvSpPr>
          <p:cNvPr id="21" name="Agenda 21"/>
          <p:cNvSpPr txBox="1"/>
          <p:nvPr/>
        </p:nvSpPr>
        <p:spPr>
          <a:xfrm>
            <a:off x="648000" y="136800"/>
            <a:ext cx="2439000" cy="1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spc="100" dirty="0">
                <a:solidFill>
                  <a:srgbClr val="9A9A9A"/>
                </a:solidFill>
                <a:latin typeface="Calibri"/>
                <a:ea typeface="Calibri"/>
                <a:cs typeface="Calibri"/>
              </a:rPr>
              <a:t>01  </a:t>
            </a:r>
            <a:r>
              <a:rPr lang="en-US" sz="850" spc="100" dirty="0">
                <a:solidFill>
                  <a:srgbClr val="9A9A9A"/>
                </a:solidFill>
                <a:latin typeface="Calibri"/>
                <a:ea typeface="Calibri"/>
                <a:cs typeface="Calibri"/>
              </a:rPr>
              <a:t>CONTEXT ENGINEERING</a:t>
            </a:r>
          </a:p>
        </p:txBody>
      </p:sp>
      <p:sp>
        <p:nvSpPr>
          <p:cNvPr id="22" name="Agenda 22"/>
          <p:cNvSpPr/>
          <p:nvPr/>
        </p:nvSpPr>
        <p:spPr>
          <a:xfrm>
            <a:off x="648000" y="331200"/>
            <a:ext cx="2439000" cy="21600"/>
          </a:xfrm>
          <a:prstGeom prst="rect">
            <a:avLst/>
          </a:prstGeom>
          <a:solidFill>
            <a:srgbClr val="E2E2E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3" name="Agenda 23"/>
          <p:cNvSpPr txBox="1"/>
          <p:nvPr/>
        </p:nvSpPr>
        <p:spPr>
          <a:xfrm>
            <a:off x="3195000" y="136800"/>
            <a:ext cx="2439000" cy="1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spc="100" dirty="0">
                <a:solidFill>
                  <a:srgbClr val="9A9A9A"/>
                </a:solidFill>
                <a:latin typeface="Calibri"/>
                <a:ea typeface="Calibri"/>
                <a:cs typeface="Calibri"/>
              </a:rPr>
              <a:t>02  </a:t>
            </a:r>
            <a:r>
              <a:rPr lang="en-US" sz="850" spc="100" dirty="0">
                <a:solidFill>
                  <a:srgbClr val="9A9A9A"/>
                </a:solidFill>
                <a:latin typeface="Calibri"/>
                <a:ea typeface="Calibri"/>
                <a:cs typeface="Calibri"/>
              </a:rPr>
              <a:t>LLM WIKI</a:t>
            </a:r>
          </a:p>
        </p:txBody>
      </p:sp>
      <p:sp>
        <p:nvSpPr>
          <p:cNvPr id="24" name="Agenda 24"/>
          <p:cNvSpPr/>
          <p:nvPr/>
        </p:nvSpPr>
        <p:spPr>
          <a:xfrm>
            <a:off x="3195000" y="331200"/>
            <a:ext cx="2439000" cy="21600"/>
          </a:xfrm>
          <a:prstGeom prst="rect">
            <a:avLst/>
          </a:prstGeom>
          <a:solidFill>
            <a:srgbClr val="E2E2E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5" name="Agenda 25"/>
          <p:cNvSpPr txBox="1"/>
          <p:nvPr/>
        </p:nvSpPr>
        <p:spPr>
          <a:xfrm>
            <a:off x="5742000" y="136800"/>
            <a:ext cx="2439000" cy="1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spc="100" dirty="0">
                <a:solidFill>
                  <a:srgbClr val="C1121F"/>
                </a:solidFill>
                <a:latin typeface="Calibri"/>
                <a:ea typeface="Calibri"/>
                <a:cs typeface="Calibri"/>
              </a:rPr>
              <a:t>03  OKF PRODUCT DOCUMENTATION</a:t>
            </a:r>
          </a:p>
        </p:txBody>
      </p:sp>
      <p:sp>
        <p:nvSpPr>
          <p:cNvPr id="26" name="Agenda 26"/>
          <p:cNvSpPr/>
          <p:nvPr/>
        </p:nvSpPr>
        <p:spPr>
          <a:xfrm>
            <a:off x="5742000" y="331200"/>
            <a:ext cx="2439000" cy="43200"/>
          </a:xfrm>
          <a:prstGeom prst="rect">
            <a:avLst/>
          </a:prstGeom>
          <a:solidFill>
            <a:srgbClr val="C1121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7" name="Agenda 27"/>
          <p:cNvSpPr txBox="1"/>
          <p:nvPr/>
        </p:nvSpPr>
        <p:spPr>
          <a:xfrm>
            <a:off x="8289000" y="136800"/>
            <a:ext cx="2439000" cy="1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spc="100" dirty="0">
                <a:solidFill>
                  <a:srgbClr val="9A9A9A"/>
                </a:solidFill>
                <a:latin typeface="Calibri"/>
                <a:ea typeface="Calibri"/>
                <a:cs typeface="Calibri"/>
              </a:rPr>
              <a:t>04  </a:t>
            </a:r>
            <a:r>
              <a:rPr lang="en-US" sz="850" spc="100" dirty="0">
                <a:solidFill>
                  <a:srgbClr val="9A9A9A"/>
                </a:solidFill>
                <a:latin typeface="Calibri"/>
                <a:ea typeface="Calibri"/>
                <a:cs typeface="Calibri"/>
              </a:rPr>
              <a:t>CONCLUSION</a:t>
            </a:r>
          </a:p>
        </p:txBody>
      </p:sp>
      <p:sp>
        <p:nvSpPr>
          <p:cNvPr id="28" name="Agenda 28"/>
          <p:cNvSpPr/>
          <p:nvPr/>
        </p:nvSpPr>
        <p:spPr>
          <a:xfrm>
            <a:off x="8289000" y="331200"/>
            <a:ext cx="2439000" cy="21600"/>
          </a:xfrm>
          <a:prstGeom prst="rect">
            <a:avLst/>
          </a:prstGeom>
          <a:solidFill>
            <a:srgbClr val="E2E2E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648000" y="396000"/>
            <a:ext cx="10872000" cy="7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41414"/>
                </a:solidFill>
                <a:latin typeface="Cambria"/>
                <a:ea typeface="Cambria"/>
                <a:cs typeface="Cambria"/>
              </a:rPr>
              <a:t>OKF product documentation: the ATM example</a:t>
            </a:r>
            <a:endParaRPr lang="en-US" sz="3400" dirty="0"/>
          </a:p>
        </p:txBody>
      </p:sp>
      <p:sp>
        <p:nvSpPr>
          <p:cNvPr id="3" name="Text 3"/>
          <p:cNvSpPr txBox="1"/>
          <p:nvPr/>
        </p:nvSpPr>
        <p:spPr>
          <a:xfrm>
            <a:off x="648000" y="1116000"/>
            <a:ext cx="10872000" cy="3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Step 2 of the series — the same ideas applied to a software product: the requirements of an imaginary ATM as an OKF bundle</a:t>
            </a:r>
            <a:endParaRPr lang="en-US" sz="1400" dirty="0"/>
          </a:p>
        </p:txBody>
      </p:sp>
      <p:sp>
        <p:nvSpPr>
          <p:cNvPr id="4" name="Shape 4"/>
          <p:cNvSpPr/>
          <p:nvPr/>
        </p:nvSpPr>
        <p:spPr>
          <a:xfrm>
            <a:off x="648000" y="1656000"/>
            <a:ext cx="1573200" cy="882000"/>
          </a:xfrm>
          <a:prstGeom prst="roundRect">
            <a:avLst>
              <a:gd name="adj" fmla="val 7500"/>
            </a:avLst>
          </a:prstGeom>
          <a:solidFill>
            <a:srgbClr val="141414"/>
          </a:solidFill>
          <a:ln w="12700">
            <a:solidFill>
              <a:srgbClr val="141414"/>
            </a:solidFill>
            <a:prstDash val="solid"/>
          </a:ln>
          <a:effectLst>
            <a:outerShdw blurRad="889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5"/>
          <p:cNvSpPr txBox="1"/>
          <p:nvPr/>
        </p:nvSpPr>
        <p:spPr>
          <a:xfrm>
            <a:off x="889952" y="1769103"/>
            <a:ext cx="1321200" cy="4140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Domain Model</a:t>
            </a:r>
            <a:endParaRPr lang="en-US" sz="1250" dirty="0"/>
          </a:p>
        </p:txBody>
      </p:sp>
      <p:sp>
        <p:nvSpPr>
          <p:cNvPr id="7" name="Shape 7"/>
          <p:cNvSpPr/>
          <p:nvPr/>
        </p:nvSpPr>
        <p:spPr>
          <a:xfrm>
            <a:off x="2257200" y="1987200"/>
            <a:ext cx="216000" cy="216000"/>
          </a:xfrm>
          <a:prstGeom prst="rightArrow">
            <a:avLst/>
          </a:prstGeom>
          <a:solidFill>
            <a:srgbClr val="C1121F"/>
          </a:solidFill>
          <a:ln w="12700">
            <a:solidFill>
              <a:srgbClr val="C1121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8"/>
          <p:cNvSpPr/>
          <p:nvPr/>
        </p:nvSpPr>
        <p:spPr>
          <a:xfrm>
            <a:off x="2509200" y="1656000"/>
            <a:ext cx="1573200" cy="882000"/>
          </a:xfrm>
          <a:prstGeom prst="roundRect">
            <a:avLst>
              <a:gd name="adj" fmla="val 7500"/>
            </a:avLst>
          </a:prstGeom>
          <a:solidFill>
            <a:srgbClr val="EAEAEA"/>
          </a:solidFill>
          <a:ln w="12700">
            <a:solidFill>
              <a:srgbClr val="EAEAEA"/>
            </a:solidFill>
            <a:prstDash val="solid"/>
          </a:ln>
          <a:effectLst>
            <a:outerShdw blurRad="889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9"/>
          <p:cNvSpPr txBox="1"/>
          <p:nvPr/>
        </p:nvSpPr>
        <p:spPr>
          <a:xfrm>
            <a:off x="2750223" y="1800000"/>
            <a:ext cx="1321200" cy="4140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250" b="1" dirty="0">
                <a:solidFill>
                  <a:srgbClr val="141414"/>
                </a:solidFill>
                <a:latin typeface="Calibri"/>
                <a:ea typeface="Calibri"/>
                <a:cs typeface="Calibri"/>
              </a:rPr>
              <a:t>Business Process</a:t>
            </a:r>
            <a:endParaRPr lang="en-US" sz="1250" dirty="0"/>
          </a:p>
        </p:txBody>
      </p:sp>
      <p:sp>
        <p:nvSpPr>
          <p:cNvPr id="11" name="Shape 11"/>
          <p:cNvSpPr/>
          <p:nvPr/>
        </p:nvSpPr>
        <p:spPr>
          <a:xfrm>
            <a:off x="4118400" y="1987200"/>
            <a:ext cx="216000" cy="216000"/>
          </a:xfrm>
          <a:prstGeom prst="rightArrow">
            <a:avLst/>
          </a:prstGeom>
          <a:solidFill>
            <a:srgbClr val="C1121F"/>
          </a:solidFill>
          <a:ln w="12700">
            <a:solidFill>
              <a:srgbClr val="C1121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2"/>
          <p:cNvSpPr/>
          <p:nvPr/>
        </p:nvSpPr>
        <p:spPr>
          <a:xfrm>
            <a:off x="4370400" y="1656000"/>
            <a:ext cx="1573200" cy="882000"/>
          </a:xfrm>
          <a:prstGeom prst="roundRect">
            <a:avLst>
              <a:gd name="adj" fmla="val 7500"/>
            </a:avLst>
          </a:prstGeom>
          <a:solidFill>
            <a:srgbClr val="EAEAEA"/>
          </a:solidFill>
          <a:ln w="12700">
            <a:solidFill>
              <a:srgbClr val="EAEAEA"/>
            </a:solidFill>
            <a:prstDash val="solid"/>
          </a:ln>
          <a:effectLst>
            <a:outerShdw blurRad="889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3"/>
          <p:cNvSpPr txBox="1"/>
          <p:nvPr/>
        </p:nvSpPr>
        <p:spPr>
          <a:xfrm>
            <a:off x="4805170" y="1789200"/>
            <a:ext cx="678501" cy="4140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250" b="1" dirty="0">
                <a:solidFill>
                  <a:srgbClr val="141414"/>
                </a:solidFill>
                <a:latin typeface="Calibri"/>
                <a:ea typeface="Calibri"/>
                <a:cs typeface="Calibri"/>
              </a:rPr>
              <a:t>Use Cases</a:t>
            </a:r>
            <a:endParaRPr lang="en-US" sz="1250" dirty="0"/>
          </a:p>
        </p:txBody>
      </p:sp>
      <p:sp>
        <p:nvSpPr>
          <p:cNvPr id="15" name="Shape 15"/>
          <p:cNvSpPr/>
          <p:nvPr/>
        </p:nvSpPr>
        <p:spPr>
          <a:xfrm>
            <a:off x="5979600" y="1987200"/>
            <a:ext cx="216000" cy="216000"/>
          </a:xfrm>
          <a:prstGeom prst="rightArrow">
            <a:avLst/>
          </a:prstGeom>
          <a:solidFill>
            <a:srgbClr val="C1121F"/>
          </a:solidFill>
          <a:ln w="12700">
            <a:solidFill>
              <a:srgbClr val="C1121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6"/>
          <p:cNvSpPr/>
          <p:nvPr/>
        </p:nvSpPr>
        <p:spPr>
          <a:xfrm>
            <a:off x="6231600" y="1656000"/>
            <a:ext cx="1573200" cy="882000"/>
          </a:xfrm>
          <a:prstGeom prst="roundRect">
            <a:avLst>
              <a:gd name="adj" fmla="val 7500"/>
            </a:avLst>
          </a:prstGeom>
          <a:solidFill>
            <a:srgbClr val="EAEAEA"/>
          </a:solidFill>
          <a:ln w="12700">
            <a:solidFill>
              <a:srgbClr val="EAEAEA"/>
            </a:solidFill>
            <a:prstDash val="solid"/>
          </a:ln>
          <a:effectLst>
            <a:outerShdw blurRad="889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7"/>
          <p:cNvSpPr txBox="1"/>
          <p:nvPr/>
        </p:nvSpPr>
        <p:spPr>
          <a:xfrm>
            <a:off x="6675587" y="1769103"/>
            <a:ext cx="820484" cy="4140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250" b="1" dirty="0">
                <a:solidFill>
                  <a:srgbClr val="141414"/>
                </a:solidFill>
                <a:latin typeface="Calibri"/>
                <a:ea typeface="Calibri"/>
                <a:cs typeface="Calibri"/>
              </a:rPr>
              <a:t>State Charts</a:t>
            </a:r>
            <a:endParaRPr lang="en-US" sz="1250" dirty="0"/>
          </a:p>
        </p:txBody>
      </p:sp>
      <p:sp>
        <p:nvSpPr>
          <p:cNvPr id="19" name="Shape 19"/>
          <p:cNvSpPr/>
          <p:nvPr/>
        </p:nvSpPr>
        <p:spPr>
          <a:xfrm>
            <a:off x="7840800" y="1987200"/>
            <a:ext cx="216000" cy="216000"/>
          </a:xfrm>
          <a:prstGeom prst="rightArrow">
            <a:avLst/>
          </a:prstGeom>
          <a:solidFill>
            <a:srgbClr val="C1121F"/>
          </a:solidFill>
          <a:ln w="12700">
            <a:solidFill>
              <a:srgbClr val="C1121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20"/>
          <p:cNvSpPr/>
          <p:nvPr/>
        </p:nvSpPr>
        <p:spPr>
          <a:xfrm>
            <a:off x="8092800" y="1656000"/>
            <a:ext cx="1573200" cy="882000"/>
          </a:xfrm>
          <a:prstGeom prst="roundRect">
            <a:avLst>
              <a:gd name="adj" fmla="val 7500"/>
            </a:avLst>
          </a:prstGeom>
          <a:solidFill>
            <a:srgbClr val="EAEAEA"/>
          </a:solidFill>
          <a:ln w="12700">
            <a:solidFill>
              <a:srgbClr val="EAEAEA"/>
            </a:solidFill>
            <a:prstDash val="solid"/>
          </a:ln>
          <a:effectLst>
            <a:outerShdw blurRad="889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Text 21"/>
          <p:cNvSpPr txBox="1"/>
          <p:nvPr/>
        </p:nvSpPr>
        <p:spPr>
          <a:xfrm>
            <a:off x="8482093" y="1871386"/>
            <a:ext cx="814669" cy="4140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/>
            <a:r>
              <a:rPr lang="en-US" sz="1250" b="1" dirty="0">
                <a:solidFill>
                  <a:srgbClr val="141414"/>
                </a:solidFill>
                <a:latin typeface="Calibri"/>
                <a:ea typeface="Calibri"/>
                <a:cs typeface="Calibri"/>
              </a:rPr>
              <a:t>User </a:t>
            </a:r>
            <a:r>
              <a:rPr lang="en-US" sz="1250" b="1" dirty="0">
                <a:solidFill>
                  <a:srgbClr val="141414"/>
                </a:solidFill>
                <a:ea typeface="Calibri"/>
                <a:cs typeface="Calibri"/>
              </a:rPr>
              <a:t>Stories</a:t>
            </a:r>
            <a:br>
              <a:rPr lang="en-US" sz="1250" b="1" dirty="0">
                <a:solidFill>
                  <a:srgbClr val="141414"/>
                </a:solidFill>
                <a:ea typeface="Calibri"/>
                <a:cs typeface="Calibri"/>
              </a:rPr>
            </a:br>
            <a:r>
              <a:rPr lang="en-US" sz="1250" b="1" dirty="0">
                <a:solidFill>
                  <a:srgbClr val="141414"/>
                </a:solidFill>
                <a:ea typeface="Calibri"/>
                <a:cs typeface="Calibri"/>
              </a:rPr>
              <a:t>Story Map</a:t>
            </a:r>
            <a:endParaRPr lang="en-US" sz="1250" dirty="0"/>
          </a:p>
        </p:txBody>
      </p:sp>
      <p:sp>
        <p:nvSpPr>
          <p:cNvPr id="23" name="Shape 23"/>
          <p:cNvSpPr/>
          <p:nvPr/>
        </p:nvSpPr>
        <p:spPr>
          <a:xfrm>
            <a:off x="9702000" y="1987200"/>
            <a:ext cx="216000" cy="216000"/>
          </a:xfrm>
          <a:prstGeom prst="rightArrow">
            <a:avLst/>
          </a:prstGeom>
          <a:solidFill>
            <a:srgbClr val="C1121F"/>
          </a:solidFill>
          <a:ln w="12700">
            <a:solidFill>
              <a:srgbClr val="C1121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4"/>
          <p:cNvSpPr/>
          <p:nvPr/>
        </p:nvSpPr>
        <p:spPr>
          <a:xfrm>
            <a:off x="9954000" y="1656000"/>
            <a:ext cx="1573200" cy="882000"/>
          </a:xfrm>
          <a:prstGeom prst="roundRect">
            <a:avLst>
              <a:gd name="adj" fmla="val 7500"/>
            </a:avLst>
          </a:prstGeom>
          <a:solidFill>
            <a:srgbClr val="141414"/>
          </a:solidFill>
          <a:ln w="12700">
            <a:solidFill>
              <a:srgbClr val="141414"/>
            </a:solidFill>
            <a:prstDash val="solid"/>
          </a:ln>
          <a:effectLst>
            <a:outerShdw blurRad="889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Text 25"/>
          <p:cNvSpPr txBox="1"/>
          <p:nvPr/>
        </p:nvSpPr>
        <p:spPr>
          <a:xfrm>
            <a:off x="10369623" y="1765800"/>
            <a:ext cx="753902" cy="4140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Change Log</a:t>
            </a:r>
            <a:endParaRPr lang="en-US" sz="1250" dirty="0"/>
          </a:p>
        </p:txBody>
      </p:sp>
      <p:sp>
        <p:nvSpPr>
          <p:cNvPr id="28" name="Shape 28"/>
          <p:cNvSpPr/>
          <p:nvPr/>
        </p:nvSpPr>
        <p:spPr>
          <a:xfrm>
            <a:off x="648000" y="2952000"/>
            <a:ext cx="5220000" cy="1242000"/>
          </a:xfrm>
          <a:prstGeom prst="roundRect">
            <a:avLst>
              <a:gd name="adj" fmla="val 5455"/>
            </a:avLst>
          </a:prstGeom>
          <a:solidFill>
            <a:srgbClr val="EAEAEA"/>
          </a:solidFill>
          <a:ln w="12700">
            <a:solidFill>
              <a:srgbClr val="EAEAEA"/>
            </a:solidFill>
            <a:prstDash val="solid"/>
          </a:ln>
          <a:effectLst>
            <a:outerShdw blurRad="889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Text 29"/>
          <p:cNvSpPr txBox="1"/>
          <p:nvPr/>
        </p:nvSpPr>
        <p:spPr>
          <a:xfrm>
            <a:off x="936000" y="3114000"/>
            <a:ext cx="4680000" cy="25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1121F"/>
                </a:solidFill>
                <a:latin typeface="Calibri"/>
                <a:ea typeface="Calibri"/>
                <a:cs typeface="Calibri"/>
              </a:rPr>
              <a:t>Every change is a change request</a:t>
            </a:r>
            <a:endParaRPr lang="en-US" sz="1400" dirty="0"/>
          </a:p>
        </p:txBody>
      </p:sp>
      <p:sp>
        <p:nvSpPr>
          <p:cNvPr id="30" name="Text 30"/>
          <p:cNvSpPr txBox="1"/>
          <p:nvPr/>
        </p:nvSpPr>
        <p:spPr>
          <a:xfrm>
            <a:off x="936000" y="3402000"/>
            <a:ext cx="4680000" cy="66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Written to sources/ </a:t>
            </a:r>
            <a:r>
              <a:rPr lang="en-US" sz="1250" b="1" dirty="0">
                <a:solidFill>
                  <a:srgbClr val="C1121F"/>
                </a:solidFill>
                <a:latin typeface="Calibri"/>
                <a:ea typeface="Calibri"/>
                <a:cs typeface="Calibri"/>
              </a:rPr>
              <a:t>before anything is edited</a:t>
            </a:r>
            <a:r>
              <a:rPr lang="en-US" sz="1250" dirty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. The artifacts it changes cite it, and the change log records the version.</a:t>
            </a:r>
            <a:endParaRPr lang="en-US" sz="1250" dirty="0"/>
          </a:p>
        </p:txBody>
      </p:sp>
      <p:sp>
        <p:nvSpPr>
          <p:cNvPr id="31" name="Shape 31"/>
          <p:cNvSpPr/>
          <p:nvPr/>
        </p:nvSpPr>
        <p:spPr>
          <a:xfrm>
            <a:off x="6300000" y="2952000"/>
            <a:ext cx="5220000" cy="1242000"/>
          </a:xfrm>
          <a:prstGeom prst="roundRect">
            <a:avLst>
              <a:gd name="adj" fmla="val 5455"/>
            </a:avLst>
          </a:prstGeom>
          <a:solidFill>
            <a:srgbClr val="F4F4F4"/>
          </a:solidFill>
          <a:ln w="12700">
            <a:solidFill>
              <a:srgbClr val="F4F4F4"/>
            </a:solidFill>
            <a:prstDash val="solid"/>
          </a:ln>
          <a:effectLst>
            <a:outerShdw blurRad="889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2" name="Text 32"/>
          <p:cNvSpPr txBox="1"/>
          <p:nvPr/>
        </p:nvSpPr>
        <p:spPr>
          <a:xfrm>
            <a:off x="6588000" y="3114000"/>
            <a:ext cx="4680000" cy="25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1121F"/>
                </a:solidFill>
                <a:latin typeface="Calibri"/>
                <a:ea typeface="Calibri"/>
                <a:cs typeface="Calibri"/>
              </a:rPr>
              <a:t>Jarvis does the requirements analysis</a:t>
            </a:r>
            <a:endParaRPr lang="en-US" sz="1400" dirty="0"/>
          </a:p>
        </p:txBody>
      </p:sp>
      <p:sp>
        <p:nvSpPr>
          <p:cNvPr id="33" name="Text 33"/>
          <p:cNvSpPr txBox="1"/>
          <p:nvPr/>
        </p:nvSpPr>
        <p:spPr>
          <a:xfrm>
            <a:off x="6588000" y="3402000"/>
            <a:ext cx="4680000" cy="66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An agent in Claude Code and GitHub Copilot: works out the </a:t>
            </a:r>
            <a:r>
              <a:rPr lang="en-US" sz="1250" b="1" dirty="0">
                <a:solidFill>
                  <a:srgbClr val="C1121F"/>
                </a:solidFill>
                <a:latin typeface="Calibri"/>
                <a:ea typeface="Calibri"/>
                <a:cs typeface="Calibri"/>
              </a:rPr>
              <a:t>impact</a:t>
            </a:r>
            <a:r>
              <a:rPr lang="en-US" sz="1250" dirty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, asks what is unclear, updates from the domain model outward, </a:t>
            </a:r>
            <a:r>
              <a:rPr lang="en-US" sz="1250" b="1" dirty="0">
                <a:solidFill>
                  <a:srgbClr val="C1121F"/>
                </a:solidFill>
                <a:latin typeface="Calibri"/>
                <a:ea typeface="Calibri"/>
                <a:cs typeface="Calibri"/>
              </a:rPr>
              <a:t>drafts user stories</a:t>
            </a:r>
            <a:r>
              <a:rPr lang="en-US" sz="1250" dirty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.</a:t>
            </a:r>
            <a:endParaRPr lang="en-US" sz="1250" dirty="0"/>
          </a:p>
        </p:txBody>
      </p:sp>
      <p:sp>
        <p:nvSpPr>
          <p:cNvPr id="34" name="Shape 34"/>
          <p:cNvSpPr/>
          <p:nvPr/>
        </p:nvSpPr>
        <p:spPr>
          <a:xfrm>
            <a:off x="648000" y="4338000"/>
            <a:ext cx="5220000" cy="1242000"/>
          </a:xfrm>
          <a:prstGeom prst="roundRect">
            <a:avLst>
              <a:gd name="adj" fmla="val 5455"/>
            </a:avLst>
          </a:prstGeom>
          <a:solidFill>
            <a:srgbClr val="F4F4F4"/>
          </a:solidFill>
          <a:ln w="12700">
            <a:solidFill>
              <a:srgbClr val="F4F4F4"/>
            </a:solidFill>
            <a:prstDash val="solid"/>
          </a:ln>
          <a:effectLst>
            <a:outerShdw blurRad="889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5" name="Text 35"/>
          <p:cNvSpPr txBox="1"/>
          <p:nvPr/>
        </p:nvSpPr>
        <p:spPr>
          <a:xfrm>
            <a:off x="936000" y="4500000"/>
            <a:ext cx="4680000" cy="25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1121F"/>
                </a:solidFill>
                <a:latin typeface="Calibri"/>
                <a:ea typeface="Calibri"/>
                <a:cs typeface="Calibri"/>
              </a:rPr>
              <a:t>A person approves</a:t>
            </a:r>
            <a:endParaRPr lang="en-US" sz="1400" dirty="0"/>
          </a:p>
        </p:txBody>
      </p:sp>
      <p:sp>
        <p:nvSpPr>
          <p:cNvPr id="36" name="Text 36"/>
          <p:cNvSpPr txBox="1"/>
          <p:nvPr/>
        </p:nvSpPr>
        <p:spPr>
          <a:xfrm>
            <a:off x="936000" y="4788000"/>
            <a:ext cx="4680000" cy="66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C1121F"/>
                </a:solidFill>
                <a:latin typeface="Calibri"/>
                <a:ea typeface="Calibri"/>
                <a:cs typeface="Calibri"/>
              </a:rPr>
              <a:t>generated: jarvis/1.0</a:t>
            </a:r>
            <a:r>
              <a:rPr lang="en-US" sz="1250" dirty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 says who wrote it; </a:t>
            </a:r>
            <a:r>
              <a:rPr lang="en-US" sz="1250" b="1" dirty="0">
                <a:solidFill>
                  <a:srgbClr val="C1121F"/>
                </a:solidFill>
                <a:latin typeface="Calibri"/>
                <a:ea typeface="Calibri"/>
                <a:cs typeface="Calibri"/>
              </a:rPr>
              <a:t>verified: human:owner</a:t>
            </a:r>
            <a:r>
              <a:rPr lang="en-US" sz="1250" dirty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 is recorded with make verify — never by the agent.</a:t>
            </a:r>
            <a:endParaRPr lang="en-US" sz="1250" dirty="0"/>
          </a:p>
        </p:txBody>
      </p:sp>
      <p:sp>
        <p:nvSpPr>
          <p:cNvPr id="37" name="Shape 37"/>
          <p:cNvSpPr/>
          <p:nvPr/>
        </p:nvSpPr>
        <p:spPr>
          <a:xfrm>
            <a:off x="6300000" y="4338000"/>
            <a:ext cx="5220000" cy="1242000"/>
          </a:xfrm>
          <a:prstGeom prst="roundRect">
            <a:avLst>
              <a:gd name="adj" fmla="val 5455"/>
            </a:avLst>
          </a:prstGeom>
          <a:solidFill>
            <a:srgbClr val="EAEAEA"/>
          </a:solidFill>
          <a:ln w="12700">
            <a:solidFill>
              <a:srgbClr val="EAEAEA"/>
            </a:solidFill>
            <a:prstDash val="solid"/>
          </a:ln>
          <a:effectLst>
            <a:outerShdw blurRad="889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8" name="Text 38"/>
          <p:cNvSpPr txBox="1"/>
          <p:nvPr/>
        </p:nvSpPr>
        <p:spPr>
          <a:xfrm>
            <a:off x="6588000" y="4500000"/>
            <a:ext cx="4680000" cy="25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1121F"/>
                </a:solidFill>
                <a:latin typeface="Calibri"/>
                <a:ea typeface="Calibri"/>
                <a:cs typeface="Calibri"/>
              </a:rPr>
              <a:t>Derived - checked</a:t>
            </a:r>
            <a:endParaRPr lang="en-US" sz="1400" dirty="0"/>
          </a:p>
        </p:txBody>
      </p:sp>
      <p:sp>
        <p:nvSpPr>
          <p:cNvPr id="39" name="Text 39"/>
          <p:cNvSpPr txBox="1"/>
          <p:nvPr/>
        </p:nvSpPr>
        <p:spPr>
          <a:xfrm>
            <a:off x="6588000" y="4788000"/>
            <a:ext cx="4680000" cy="86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250" dirty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Each artifact is </a:t>
            </a:r>
            <a:r>
              <a:rPr lang="en-US" sz="1250" b="1" dirty="0">
                <a:solidFill>
                  <a:srgbClr val="C1121F"/>
                </a:solidFill>
                <a:latin typeface="Calibri"/>
                <a:cs typeface="Calibri"/>
              </a:rPr>
              <a:t>derived from the one before </a:t>
            </a:r>
            <a:r>
              <a:rPr lang="en-US" sz="1250" dirty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it and records that.  </a:t>
            </a:r>
            <a:br>
              <a:rPr lang="en-US" sz="1250" dirty="0">
                <a:solidFill>
                  <a:srgbClr val="1A1A1A"/>
                </a:solidFill>
                <a:latin typeface="Calibri"/>
                <a:ea typeface="Calibri"/>
                <a:cs typeface="Calibri"/>
              </a:rPr>
            </a:br>
            <a:r>
              <a:rPr lang="en-US" sz="1250" dirty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make build fails on </a:t>
            </a:r>
            <a:r>
              <a:rPr lang="en-US" sz="1250" b="1" dirty="0">
                <a:solidFill>
                  <a:srgbClr val="C1121F"/>
                </a:solidFill>
                <a:latin typeface="Calibri"/>
                <a:ea typeface="Calibri"/>
                <a:cs typeface="Calibri"/>
              </a:rPr>
              <a:t>broken links</a:t>
            </a:r>
            <a:r>
              <a:rPr lang="en-US" sz="1250" dirty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, bad frontmatter or a </a:t>
            </a:r>
            <a:r>
              <a:rPr lang="en-US" sz="1250" b="1" dirty="0">
                <a:solidFill>
                  <a:srgbClr val="C1121F"/>
                </a:solidFill>
                <a:latin typeface="Calibri"/>
                <a:ea typeface="Calibri"/>
                <a:cs typeface="Calibri"/>
              </a:rPr>
              <a:t>diagram that does not render</a:t>
            </a:r>
            <a:r>
              <a:rPr lang="en-US" sz="1250" dirty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.</a:t>
            </a:r>
            <a:endParaRPr lang="en-US" sz="1250" dirty="0"/>
          </a:p>
        </p:txBody>
      </p:sp>
      <p:sp>
        <p:nvSpPr>
          <p:cNvPr id="40" name="Shape 40"/>
          <p:cNvSpPr/>
          <p:nvPr/>
        </p:nvSpPr>
        <p:spPr>
          <a:xfrm>
            <a:off x="648000" y="5778000"/>
            <a:ext cx="10872000" cy="684000"/>
          </a:xfrm>
          <a:prstGeom prst="roundRect">
            <a:avLst>
              <a:gd name="adj" fmla="val 7500"/>
            </a:avLst>
          </a:prstGeom>
          <a:solidFill>
            <a:srgbClr val="141414"/>
          </a:solidFill>
          <a:ln w="12700">
            <a:solidFill>
              <a:srgbClr val="141414"/>
            </a:solidFill>
            <a:prstDash val="solid"/>
          </a:ln>
          <a:effectLst>
            <a:outerShdw blurRad="889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1" name="Text 41"/>
          <p:cNvSpPr txBox="1"/>
          <p:nvPr/>
        </p:nvSpPr>
        <p:spPr>
          <a:xfrm>
            <a:off x="972000" y="5778000"/>
            <a:ext cx="10224000" cy="68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Docs </a:t>
            </a:r>
            <a:r>
              <a:rPr lang="en-US" sz="1150" b="1" dirty="0">
                <a:solidFill>
                  <a:srgbClr val="FF6B6B"/>
                </a:solidFill>
                <a:latin typeface="Calibri"/>
                <a:ea typeface="Calibri"/>
                <a:cs typeface="Calibri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wlrm.ch/okf-productdocumentation/site</a:t>
            </a:r>
            <a:r>
              <a:rPr lang="en-US" sz="1150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 ·  How it works </a:t>
            </a:r>
            <a:r>
              <a:rPr lang="en-US" sz="1150" b="1" dirty="0">
                <a:solidFill>
                  <a:srgbClr val="FF6B6B"/>
                </a:solidFill>
                <a:latin typeface="Calibri"/>
                <a:ea typeface="Calibri"/>
                <a:cs typeface="Calibri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wlrm.ch/okf-productdocumentation</a:t>
            </a:r>
            <a:r>
              <a:rPr lang="en-US" sz="1150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 ·  Code </a:t>
            </a:r>
            <a:r>
              <a:rPr lang="en-US" sz="1150" b="1" dirty="0">
                <a:solidFill>
                  <a:srgbClr val="FF6B6B"/>
                </a:solidFill>
                <a:latin typeface="Calibri"/>
                <a:ea typeface="Calibri"/>
                <a:cs typeface="Calibri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github.com/marcelRonner/okf-productdocumentation</a:t>
            </a:r>
            <a:endParaRPr lang="en-US" sz="1150" dirty="0"/>
          </a:p>
        </p:txBody>
      </p:sp>
      <p:sp>
        <p:nvSpPr>
          <p:cNvPr id="42" name="Agenda 42"/>
          <p:cNvSpPr txBox="1"/>
          <p:nvPr/>
        </p:nvSpPr>
        <p:spPr>
          <a:xfrm>
            <a:off x="648000" y="136800"/>
            <a:ext cx="2439000" cy="1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spc="100" dirty="0">
                <a:solidFill>
                  <a:srgbClr val="9A9A9A"/>
                </a:solidFill>
                <a:latin typeface="Calibri"/>
                <a:ea typeface="Calibri"/>
                <a:cs typeface="Calibri"/>
              </a:rPr>
              <a:t>01  </a:t>
            </a:r>
            <a:r>
              <a:rPr lang="en-US" sz="850" spc="100" dirty="0">
                <a:solidFill>
                  <a:srgbClr val="9A9A9A"/>
                </a:solidFill>
                <a:latin typeface="Calibri"/>
                <a:ea typeface="Calibri"/>
                <a:cs typeface="Calibri"/>
              </a:rPr>
              <a:t>CONTEXT ENGINEERING</a:t>
            </a:r>
          </a:p>
        </p:txBody>
      </p:sp>
      <p:sp>
        <p:nvSpPr>
          <p:cNvPr id="43" name="Agenda 43"/>
          <p:cNvSpPr/>
          <p:nvPr/>
        </p:nvSpPr>
        <p:spPr>
          <a:xfrm>
            <a:off x="648000" y="331200"/>
            <a:ext cx="2439000" cy="21600"/>
          </a:xfrm>
          <a:prstGeom prst="rect">
            <a:avLst/>
          </a:prstGeom>
          <a:solidFill>
            <a:srgbClr val="E2E2E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4" name="Agenda 44"/>
          <p:cNvSpPr txBox="1"/>
          <p:nvPr/>
        </p:nvSpPr>
        <p:spPr>
          <a:xfrm>
            <a:off x="3195000" y="136800"/>
            <a:ext cx="2439000" cy="1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spc="100" dirty="0">
                <a:solidFill>
                  <a:srgbClr val="9A9A9A"/>
                </a:solidFill>
                <a:latin typeface="Calibri"/>
                <a:ea typeface="Calibri"/>
                <a:cs typeface="Calibri"/>
              </a:rPr>
              <a:t>02  </a:t>
            </a:r>
            <a:r>
              <a:rPr lang="en-US" sz="850" spc="100" dirty="0">
                <a:solidFill>
                  <a:srgbClr val="9A9A9A"/>
                </a:solidFill>
                <a:latin typeface="Calibri"/>
                <a:ea typeface="Calibri"/>
                <a:cs typeface="Calibri"/>
              </a:rPr>
              <a:t>LLM WIKI</a:t>
            </a:r>
          </a:p>
        </p:txBody>
      </p:sp>
      <p:sp>
        <p:nvSpPr>
          <p:cNvPr id="45" name="Agenda 45"/>
          <p:cNvSpPr/>
          <p:nvPr/>
        </p:nvSpPr>
        <p:spPr>
          <a:xfrm>
            <a:off x="3195000" y="331200"/>
            <a:ext cx="2439000" cy="21600"/>
          </a:xfrm>
          <a:prstGeom prst="rect">
            <a:avLst/>
          </a:prstGeom>
          <a:solidFill>
            <a:srgbClr val="E2E2E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6" name="Agenda 46"/>
          <p:cNvSpPr txBox="1"/>
          <p:nvPr/>
        </p:nvSpPr>
        <p:spPr>
          <a:xfrm>
            <a:off x="5742000" y="136800"/>
            <a:ext cx="2439000" cy="1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spc="100" dirty="0">
                <a:solidFill>
                  <a:srgbClr val="C1121F"/>
                </a:solidFill>
                <a:latin typeface="Calibri"/>
                <a:ea typeface="Calibri"/>
                <a:cs typeface="Calibri"/>
              </a:rPr>
              <a:t>03  OKF PRODUCT DOCUMENTATION</a:t>
            </a:r>
          </a:p>
        </p:txBody>
      </p:sp>
      <p:sp>
        <p:nvSpPr>
          <p:cNvPr id="47" name="Agenda 47"/>
          <p:cNvSpPr/>
          <p:nvPr/>
        </p:nvSpPr>
        <p:spPr>
          <a:xfrm>
            <a:off x="5742000" y="331200"/>
            <a:ext cx="2439000" cy="43200"/>
          </a:xfrm>
          <a:prstGeom prst="rect">
            <a:avLst/>
          </a:prstGeom>
          <a:solidFill>
            <a:srgbClr val="C1121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8" name="Agenda 48"/>
          <p:cNvSpPr txBox="1"/>
          <p:nvPr/>
        </p:nvSpPr>
        <p:spPr>
          <a:xfrm>
            <a:off x="8289000" y="136800"/>
            <a:ext cx="2439000" cy="1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spc="100" dirty="0">
                <a:solidFill>
                  <a:srgbClr val="9A9A9A"/>
                </a:solidFill>
                <a:latin typeface="Calibri"/>
                <a:ea typeface="Calibri"/>
                <a:cs typeface="Calibri"/>
              </a:rPr>
              <a:t>04  </a:t>
            </a:r>
            <a:r>
              <a:rPr lang="en-US" sz="850" spc="100" dirty="0">
                <a:solidFill>
                  <a:srgbClr val="9A9A9A"/>
                </a:solidFill>
                <a:latin typeface="Calibri"/>
                <a:ea typeface="Calibri"/>
                <a:cs typeface="Calibri"/>
              </a:rPr>
              <a:t>CONCLUSION</a:t>
            </a:r>
          </a:p>
        </p:txBody>
      </p:sp>
      <p:sp>
        <p:nvSpPr>
          <p:cNvPr id="49" name="Agenda 49"/>
          <p:cNvSpPr/>
          <p:nvPr/>
        </p:nvSpPr>
        <p:spPr>
          <a:xfrm>
            <a:off x="8289000" y="331200"/>
            <a:ext cx="2439000" cy="21600"/>
          </a:xfrm>
          <a:prstGeom prst="rect">
            <a:avLst/>
          </a:prstGeom>
          <a:solidFill>
            <a:srgbClr val="E2E2E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648000" y="396000"/>
            <a:ext cx="10872000" cy="7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41414"/>
                </a:solidFill>
                <a:latin typeface="Cambria"/>
                <a:ea typeface="Cambria"/>
                <a:cs typeface="Cambria"/>
              </a:rPr>
              <a:t>41 checks: the OKF v0.2 check register</a:t>
            </a:r>
            <a:endParaRPr lang="en-US" sz="3400" dirty="0"/>
          </a:p>
        </p:txBody>
      </p:sp>
      <p:sp>
        <p:nvSpPr>
          <p:cNvPr id="3" name="Text 3"/>
          <p:cNvSpPr txBox="1"/>
          <p:nvPr/>
        </p:nvSpPr>
        <p:spPr>
          <a:xfrm>
            <a:off x="648000" y="1116000"/>
            <a:ext cx="10872000" cy="3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Introduced with okf-productdocumentation for /okf-check — one permanent ID per check, each tied to its clause in the spec</a:t>
            </a:r>
            <a:endParaRPr lang="en-US" sz="1400" dirty="0"/>
          </a:p>
        </p:txBody>
      </p:sp>
      <p:sp>
        <p:nvSpPr>
          <p:cNvPr id="4" name="Shape 4"/>
          <p:cNvSpPr/>
          <p:nvPr/>
        </p:nvSpPr>
        <p:spPr>
          <a:xfrm>
            <a:off x="648000" y="1638000"/>
            <a:ext cx="2583000" cy="4410000"/>
          </a:xfrm>
          <a:prstGeom prst="roundRect">
            <a:avLst>
              <a:gd name="adj" fmla="val 3000"/>
            </a:avLst>
          </a:prstGeom>
          <a:solidFill>
            <a:srgbClr val="EAEAEA"/>
          </a:solidFill>
          <a:ln w="12700">
            <a:solidFill>
              <a:srgbClr val="EAEAEA"/>
            </a:solidFill>
            <a:prstDash val="solid"/>
          </a:ln>
          <a:effectLst>
            <a:outerShdw blurRad="889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5"/>
          <p:cNvSpPr txBox="1"/>
          <p:nvPr/>
        </p:nvSpPr>
        <p:spPr>
          <a:xfrm>
            <a:off x="792000" y="1782000"/>
            <a:ext cx="2295000" cy="412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C1121F"/>
                </a:solidFill>
                <a:latin typeface="Cambria"/>
                <a:ea typeface="Cambria"/>
                <a:cs typeface="Cambria"/>
              </a:rPr>
              <a:t>Conformance</a:t>
            </a:r>
            <a:r>
              <a:rPr lang="en-US" sz="950" dirty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   §11</a:t>
            </a:r>
            <a:endParaRPr lang="en-US" sz="1250" dirty="0"/>
          </a:p>
          <a:p>
            <a:pPr marL="694800" indent="-694800">
              <a:spcBef>
                <a:spcPts val="150"/>
              </a:spcBef>
              <a:buNone/>
            </a:pPr>
            <a:r>
              <a:rPr lang="en-US" sz="850" b="1" dirty="0">
                <a:solidFill>
                  <a:srgbClr val="C1121F"/>
                </a:solidFill>
                <a:latin typeface="Courier New"/>
                <a:ea typeface="Courier New"/>
                <a:cs typeface="Courier New"/>
              </a:rPr>
              <a:t>OKF-CNF-01 </a:t>
            </a:r>
            <a:r>
              <a:rPr lang="en-US" sz="1050" b="1" dirty="0">
                <a:solidFill>
                  <a:srgbClr val="C1121F"/>
                </a:solidFill>
                <a:latin typeface="Calibri"/>
                <a:ea typeface="Calibri"/>
                <a:cs typeface="Calibri"/>
              </a:rPr>
              <a:t>Parseable frontmatter everywhere</a:t>
            </a:r>
            <a:endParaRPr lang="en-US" sz="850" dirty="0"/>
          </a:p>
          <a:p>
            <a:pPr marL="694800" indent="-694800">
              <a:spcBef>
                <a:spcPts val="150"/>
              </a:spcBef>
              <a:buNone/>
            </a:pPr>
            <a:r>
              <a:rPr lang="en-US" sz="850" b="1" dirty="0">
                <a:solidFill>
                  <a:srgbClr val="C1121F"/>
                </a:solidFill>
                <a:latin typeface="Courier New"/>
                <a:ea typeface="Courier New"/>
                <a:cs typeface="Courier New"/>
              </a:rPr>
              <a:t>OKF-CNF-02 </a:t>
            </a:r>
            <a:r>
              <a:rPr lang="en-US" sz="1050" b="1" dirty="0">
                <a:solidFill>
                  <a:srgbClr val="C1121F"/>
                </a:solidFill>
                <a:latin typeface="Calibri"/>
                <a:ea typeface="Calibri"/>
                <a:cs typeface="Calibri"/>
              </a:rPr>
              <a:t>type everywhere</a:t>
            </a:r>
            <a:endParaRPr lang="en-US" sz="850" dirty="0"/>
          </a:p>
          <a:p>
            <a:pPr marL="694800" indent="-694800">
              <a:spcBef>
                <a:spcPts val="150"/>
              </a:spcBef>
              <a:buNone/>
            </a:pPr>
            <a:r>
              <a:rPr lang="en-US" sz="850" b="1" dirty="0">
                <a:solidFill>
                  <a:srgbClr val="C1121F"/>
                </a:solidFill>
                <a:latin typeface="Courier New"/>
                <a:ea typeface="Courier New"/>
                <a:cs typeface="Courier New"/>
              </a:rPr>
              <a:t>OKF-CNF-03 </a:t>
            </a:r>
            <a:r>
              <a:rPr lang="en-US" sz="1050" b="1" dirty="0">
                <a:solidFill>
                  <a:srgbClr val="C1121F"/>
                </a:solidFill>
                <a:latin typeface="Calibri"/>
                <a:ea typeface="Calibri"/>
                <a:cs typeface="Calibri"/>
              </a:rPr>
              <a:t>Reserved files well-formed</a:t>
            </a:r>
            <a:endParaRPr lang="en-US" sz="850" dirty="0"/>
          </a:p>
          <a:p>
            <a:pPr marL="694800" indent="-694800">
              <a:spcBef>
                <a:spcPts val="150"/>
              </a:spcBef>
              <a:buNone/>
            </a:pPr>
            <a:r>
              <a:rPr lang="en-US" sz="850" dirty="0">
                <a:solidFill>
                  <a:srgbClr val="5A5A5A"/>
                </a:solidFill>
                <a:latin typeface="Courier New"/>
                <a:ea typeface="Courier New"/>
                <a:cs typeface="Courier New"/>
              </a:rPr>
              <a:t>OKF-CNF-04 </a:t>
            </a:r>
            <a:r>
              <a:rPr lang="en-US" sz="1050" dirty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The consumer floor</a:t>
            </a:r>
            <a:endParaRPr lang="en-US" sz="850" dirty="0"/>
          </a:p>
          <a:p>
            <a:pPr marL="0" indent="0">
              <a:spcBef>
                <a:spcPts val="900"/>
              </a:spcBef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C1121F"/>
                </a:solidFill>
                <a:latin typeface="Cambria"/>
                <a:ea typeface="Cambria"/>
                <a:cs typeface="Cambria"/>
              </a:rPr>
              <a:t>Bundle structure</a:t>
            </a:r>
            <a:r>
              <a:rPr lang="en-US" sz="950" dirty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   §3</a:t>
            </a:r>
            <a:endParaRPr lang="en-US" sz="1250" dirty="0"/>
          </a:p>
          <a:p>
            <a:pPr marL="694800" indent="-694800">
              <a:spcBef>
                <a:spcPts val="150"/>
              </a:spcBef>
              <a:buNone/>
            </a:pPr>
            <a:r>
              <a:rPr lang="en-US" sz="850" dirty="0">
                <a:solidFill>
                  <a:srgbClr val="5A5A5A"/>
                </a:solidFill>
                <a:latin typeface="Courier New"/>
                <a:ea typeface="Courier New"/>
                <a:cs typeface="Courier New"/>
              </a:rPr>
              <a:t>OKF-BUN-01 </a:t>
            </a:r>
            <a:r>
              <a:rPr lang="en-US" sz="1050" dirty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Markdown directory tree</a:t>
            </a:r>
            <a:endParaRPr lang="en-US" sz="850" dirty="0"/>
          </a:p>
          <a:p>
            <a:pPr marL="694800" indent="-694800">
              <a:spcBef>
                <a:spcPts val="150"/>
              </a:spcBef>
              <a:buNone/>
            </a:pPr>
            <a:r>
              <a:rPr lang="en-US" sz="850" dirty="0">
                <a:solidFill>
                  <a:srgbClr val="5A5A5A"/>
                </a:solidFill>
                <a:latin typeface="Courier New"/>
                <a:ea typeface="Courier New"/>
                <a:cs typeface="Courier New"/>
              </a:rPr>
              <a:t>OKF-BUN-02 </a:t>
            </a:r>
            <a:r>
              <a:rPr lang="en-US" sz="1050" dirty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Reserved names hold no concepts</a:t>
            </a:r>
            <a:endParaRPr lang="en-US" sz="850" dirty="0"/>
          </a:p>
          <a:p>
            <a:pPr marL="0" indent="0">
              <a:spcBef>
                <a:spcPts val="900"/>
              </a:spcBef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C1121F"/>
                </a:solidFill>
                <a:latin typeface="Cambria"/>
                <a:ea typeface="Cambria"/>
                <a:cs typeface="Cambria"/>
              </a:rPr>
              <a:t>Reserved files</a:t>
            </a:r>
            <a:r>
              <a:rPr lang="en-US" sz="950" dirty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   §8–9</a:t>
            </a:r>
            <a:endParaRPr lang="en-US" sz="1250" dirty="0"/>
          </a:p>
          <a:p>
            <a:pPr marL="694800" indent="-694800">
              <a:spcBef>
                <a:spcPts val="150"/>
              </a:spcBef>
              <a:buNone/>
            </a:pPr>
            <a:r>
              <a:rPr lang="en-US" sz="850" dirty="0">
                <a:solidFill>
                  <a:srgbClr val="5A5A5A"/>
                </a:solidFill>
                <a:latin typeface="Courier New"/>
                <a:ea typeface="Courier New"/>
                <a:cs typeface="Courier New"/>
              </a:rPr>
              <a:t>OKF-RSV-01 </a:t>
            </a:r>
            <a:r>
              <a:rPr lang="en-US" sz="1050" dirty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index.md structure</a:t>
            </a:r>
            <a:endParaRPr lang="en-US" sz="850" dirty="0"/>
          </a:p>
          <a:p>
            <a:pPr marL="694800" indent="-694800">
              <a:spcBef>
                <a:spcPts val="150"/>
              </a:spcBef>
              <a:buNone/>
            </a:pPr>
            <a:r>
              <a:rPr lang="en-US" sz="850" dirty="0">
                <a:solidFill>
                  <a:srgbClr val="5A5A5A"/>
                </a:solidFill>
                <a:latin typeface="Courier New"/>
                <a:ea typeface="Courier New"/>
                <a:cs typeface="Courier New"/>
              </a:rPr>
              <a:t>OKF-RSV-02 </a:t>
            </a:r>
            <a:r>
              <a:rPr lang="en-US" sz="1050" dirty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log.md structure</a:t>
            </a:r>
            <a:endParaRPr lang="en-US" sz="850" dirty="0"/>
          </a:p>
          <a:p>
            <a:pPr marL="0" indent="0">
              <a:spcBef>
                <a:spcPts val="900"/>
              </a:spcBef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C1121F"/>
                </a:solidFill>
                <a:latin typeface="Cambria"/>
                <a:ea typeface="Cambria"/>
                <a:cs typeface="Cambria"/>
              </a:rPr>
              <a:t>Versioning</a:t>
            </a:r>
            <a:r>
              <a:rPr lang="en-US" sz="950" dirty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   §12</a:t>
            </a:r>
            <a:endParaRPr lang="en-US" sz="1250" dirty="0"/>
          </a:p>
          <a:p>
            <a:pPr marL="694800" indent="-694800">
              <a:spcBef>
                <a:spcPts val="150"/>
              </a:spcBef>
              <a:buNone/>
            </a:pPr>
            <a:r>
              <a:rPr lang="en-US" sz="850" dirty="0">
                <a:solidFill>
                  <a:srgbClr val="5A5A5A"/>
                </a:solidFill>
                <a:latin typeface="Courier New"/>
                <a:ea typeface="Courier New"/>
                <a:cs typeface="Courier New"/>
              </a:rPr>
              <a:t>OKF-VER-01 </a:t>
            </a:r>
            <a:r>
              <a:rPr lang="en-US" sz="1050" dirty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okf_version declared</a:t>
            </a:r>
            <a:endParaRPr lang="en-US" sz="850" dirty="0"/>
          </a:p>
          <a:p>
            <a:pPr marL="694800" indent="-694800">
              <a:spcBef>
                <a:spcPts val="150"/>
              </a:spcBef>
              <a:buNone/>
            </a:pPr>
            <a:r>
              <a:rPr lang="en-US" sz="850" dirty="0">
                <a:solidFill>
                  <a:srgbClr val="5A5A5A"/>
                </a:solidFill>
                <a:latin typeface="Courier New"/>
                <a:ea typeface="Courier New"/>
                <a:cs typeface="Courier New"/>
              </a:rPr>
              <a:t>OKF-VER-02 </a:t>
            </a:r>
            <a:r>
              <a:rPr lang="en-US" sz="1050" dirty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Unknown version consumed best-effort</a:t>
            </a:r>
            <a:endParaRPr lang="en-US" sz="850" dirty="0"/>
          </a:p>
        </p:txBody>
      </p:sp>
      <p:sp>
        <p:nvSpPr>
          <p:cNvPr id="6" name="Shape 6"/>
          <p:cNvSpPr/>
          <p:nvPr/>
        </p:nvSpPr>
        <p:spPr>
          <a:xfrm>
            <a:off x="3411000" y="1638000"/>
            <a:ext cx="2583000" cy="4410000"/>
          </a:xfrm>
          <a:prstGeom prst="roundRect">
            <a:avLst>
              <a:gd name="adj" fmla="val 3000"/>
            </a:avLst>
          </a:prstGeom>
          <a:solidFill>
            <a:srgbClr val="F4F4F4"/>
          </a:solidFill>
          <a:ln w="12700">
            <a:solidFill>
              <a:srgbClr val="F4F4F4"/>
            </a:solidFill>
            <a:prstDash val="solid"/>
          </a:ln>
          <a:effectLst>
            <a:outerShdw blurRad="889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7"/>
          <p:cNvSpPr txBox="1"/>
          <p:nvPr/>
        </p:nvSpPr>
        <p:spPr>
          <a:xfrm>
            <a:off x="3555000" y="1782000"/>
            <a:ext cx="2295000" cy="412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C1121F"/>
                </a:solidFill>
                <a:latin typeface="Cambria"/>
                <a:ea typeface="Cambria"/>
                <a:cs typeface="Cambria"/>
              </a:rPr>
              <a:t>Concept documents</a:t>
            </a:r>
            <a:r>
              <a:rPr lang="en-US" sz="950" dirty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   §2, §4</a:t>
            </a:r>
            <a:endParaRPr lang="en-US" sz="1250" dirty="0"/>
          </a:p>
          <a:p>
            <a:pPr marL="694800" indent="-694800">
              <a:spcBef>
                <a:spcPts val="150"/>
              </a:spcBef>
              <a:buNone/>
            </a:pPr>
            <a:r>
              <a:rPr lang="en-US" sz="850" dirty="0">
                <a:solidFill>
                  <a:srgbClr val="5A5A5A"/>
                </a:solidFill>
                <a:latin typeface="Courier New"/>
                <a:ea typeface="Courier New"/>
                <a:cs typeface="Courier New"/>
              </a:rPr>
              <a:t>OKF-CPT-01 </a:t>
            </a:r>
            <a:r>
              <a:rPr lang="en-US" sz="1050" dirty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Frontmatter, then body</a:t>
            </a:r>
            <a:endParaRPr lang="en-US" sz="850" dirty="0"/>
          </a:p>
          <a:p>
            <a:pPr marL="694800" indent="-694800">
              <a:spcBef>
                <a:spcPts val="150"/>
              </a:spcBef>
              <a:buNone/>
            </a:pPr>
            <a:r>
              <a:rPr lang="en-US" sz="850" dirty="0">
                <a:solidFill>
                  <a:srgbClr val="5A5A5A"/>
                </a:solidFill>
                <a:latin typeface="Courier New"/>
                <a:ea typeface="Courier New"/>
                <a:cs typeface="Courier New"/>
              </a:rPr>
              <a:t>OKF-CPT-02 </a:t>
            </a:r>
            <a:r>
              <a:rPr lang="en-US" sz="1050" dirty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One concept per file</a:t>
            </a:r>
            <a:endParaRPr lang="en-US" sz="850" dirty="0"/>
          </a:p>
          <a:p>
            <a:pPr marL="694800" indent="-694800">
              <a:spcBef>
                <a:spcPts val="150"/>
              </a:spcBef>
              <a:buNone/>
            </a:pPr>
            <a:r>
              <a:rPr lang="en-US" sz="850" dirty="0">
                <a:solidFill>
                  <a:srgbClr val="5A5A5A"/>
                </a:solidFill>
                <a:latin typeface="Courier New"/>
                <a:ea typeface="Courier New"/>
                <a:cs typeface="Courier New"/>
              </a:rPr>
              <a:t>OKF-CPT-03 </a:t>
            </a:r>
            <a:r>
              <a:rPr lang="en-US" sz="1050" dirty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Non-empty type</a:t>
            </a:r>
            <a:endParaRPr lang="en-US" sz="850" dirty="0"/>
          </a:p>
          <a:p>
            <a:pPr marL="694800" indent="-694800">
              <a:spcBef>
                <a:spcPts val="150"/>
              </a:spcBef>
              <a:buNone/>
            </a:pPr>
            <a:r>
              <a:rPr lang="en-US" sz="850" dirty="0">
                <a:solidFill>
                  <a:srgbClr val="5A5A5A"/>
                </a:solidFill>
                <a:latin typeface="Courier New"/>
                <a:ea typeface="Courier New"/>
                <a:cs typeface="Courier New"/>
              </a:rPr>
              <a:t>OKF-CPT-04 </a:t>
            </a:r>
            <a:r>
              <a:rPr lang="en-US" sz="1050" dirty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Self-explanatory types</a:t>
            </a:r>
            <a:endParaRPr lang="en-US" sz="850" dirty="0"/>
          </a:p>
          <a:p>
            <a:pPr marL="694800" indent="-694800">
              <a:spcBef>
                <a:spcPts val="150"/>
              </a:spcBef>
              <a:buNone/>
            </a:pPr>
            <a:r>
              <a:rPr lang="en-US" sz="850" dirty="0">
                <a:solidFill>
                  <a:srgbClr val="5A5A5A"/>
                </a:solidFill>
                <a:latin typeface="Courier New"/>
                <a:ea typeface="Courier New"/>
                <a:cs typeface="Courier New"/>
              </a:rPr>
              <a:t>OKF-CPT-05 </a:t>
            </a:r>
            <a:r>
              <a:rPr lang="en-US" sz="1050" dirty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Unknown type tolerated</a:t>
            </a:r>
            <a:endParaRPr lang="en-US" sz="850" dirty="0"/>
          </a:p>
          <a:p>
            <a:pPr marL="694800" indent="-694800">
              <a:spcBef>
                <a:spcPts val="150"/>
              </a:spcBef>
              <a:buNone/>
            </a:pPr>
            <a:r>
              <a:rPr lang="en-US" sz="850" dirty="0">
                <a:solidFill>
                  <a:srgbClr val="5A5A5A"/>
                </a:solidFill>
                <a:latin typeface="Courier New"/>
                <a:ea typeface="Courier New"/>
                <a:cs typeface="Courier New"/>
              </a:rPr>
              <a:t>OKF-CPT-06 </a:t>
            </a:r>
            <a:r>
              <a:rPr lang="en-US" sz="1050" dirty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title present</a:t>
            </a:r>
            <a:endParaRPr lang="en-US" sz="850" dirty="0"/>
          </a:p>
          <a:p>
            <a:pPr marL="694800" indent="-694800">
              <a:spcBef>
                <a:spcPts val="150"/>
              </a:spcBef>
              <a:buNone/>
            </a:pPr>
            <a:r>
              <a:rPr lang="en-US" sz="850" dirty="0">
                <a:solidFill>
                  <a:srgbClr val="5A5A5A"/>
                </a:solidFill>
                <a:latin typeface="Courier New"/>
                <a:ea typeface="Courier New"/>
                <a:cs typeface="Courier New"/>
              </a:rPr>
              <a:t>OKF-CPT-07 </a:t>
            </a:r>
            <a:r>
              <a:rPr lang="en-US" sz="1050" dirty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One-sentence description</a:t>
            </a:r>
            <a:endParaRPr lang="en-US" sz="850" dirty="0"/>
          </a:p>
          <a:p>
            <a:pPr marL="694800" indent="-694800">
              <a:spcBef>
                <a:spcPts val="150"/>
              </a:spcBef>
              <a:buNone/>
            </a:pPr>
            <a:r>
              <a:rPr lang="en-US" sz="850" dirty="0">
                <a:solidFill>
                  <a:srgbClr val="5A5A5A"/>
                </a:solidFill>
                <a:latin typeface="Courier New"/>
                <a:ea typeface="Courier New"/>
                <a:cs typeface="Courier New"/>
              </a:rPr>
              <a:t>OKF-CPT-08 </a:t>
            </a:r>
            <a:r>
              <a:rPr lang="en-US" sz="1050" dirty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resource on asset concepts</a:t>
            </a:r>
            <a:endParaRPr lang="en-US" sz="850" dirty="0"/>
          </a:p>
          <a:p>
            <a:pPr marL="694800" indent="-694800">
              <a:spcBef>
                <a:spcPts val="150"/>
              </a:spcBef>
              <a:buNone/>
            </a:pPr>
            <a:r>
              <a:rPr lang="en-US" sz="850" dirty="0">
                <a:solidFill>
                  <a:srgbClr val="5A5A5A"/>
                </a:solidFill>
                <a:latin typeface="Courier New"/>
                <a:ea typeface="Courier New"/>
                <a:cs typeface="Courier New"/>
              </a:rPr>
              <a:t>OKF-CPT-09 </a:t>
            </a:r>
            <a:r>
              <a:rPr lang="en-US" sz="1050" dirty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tags is a list</a:t>
            </a:r>
            <a:endParaRPr lang="en-US" sz="850" dirty="0"/>
          </a:p>
          <a:p>
            <a:pPr marL="694800" indent="-694800">
              <a:spcBef>
                <a:spcPts val="150"/>
              </a:spcBef>
              <a:buNone/>
            </a:pPr>
            <a:r>
              <a:rPr lang="en-US" sz="850" dirty="0">
                <a:solidFill>
                  <a:srgbClr val="5A5A5A"/>
                </a:solidFill>
                <a:latin typeface="Courier New"/>
                <a:ea typeface="Courier New"/>
                <a:cs typeface="Courier New"/>
              </a:rPr>
              <a:t>OKF-CPT-10 </a:t>
            </a:r>
            <a:r>
              <a:rPr lang="en-US" sz="1050" dirty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Extra keys kept</a:t>
            </a:r>
            <a:endParaRPr lang="en-US" sz="850" dirty="0"/>
          </a:p>
          <a:p>
            <a:pPr marL="694800" indent="-694800">
              <a:spcBef>
                <a:spcPts val="150"/>
              </a:spcBef>
              <a:buNone/>
            </a:pPr>
            <a:r>
              <a:rPr lang="en-US" sz="850" dirty="0">
                <a:solidFill>
                  <a:srgbClr val="5A5A5A"/>
                </a:solidFill>
                <a:latin typeface="Courier New"/>
                <a:ea typeface="Courier New"/>
                <a:cs typeface="Courier New"/>
              </a:rPr>
              <a:t>OKF-CPT-11 </a:t>
            </a:r>
            <a:r>
              <a:rPr lang="en-US" sz="1050" dirty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Conventional body headings</a:t>
            </a:r>
            <a:endParaRPr lang="en-US" sz="850" dirty="0"/>
          </a:p>
          <a:p>
            <a:pPr marL="0" indent="0">
              <a:spcBef>
                <a:spcPts val="1800"/>
              </a:spcBef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C1121F"/>
                </a:solidFill>
                <a:latin typeface="Cambria"/>
                <a:ea typeface="Cambria"/>
                <a:cs typeface="Cambria"/>
              </a:rPr>
              <a:t>Reading an ID</a:t>
            </a:r>
            <a:endParaRPr lang="en-US" sz="1250" dirty="0"/>
          </a:p>
          <a:p>
            <a:pPr marL="0" indent="0">
              <a:buNone/>
            </a:pPr>
            <a:r>
              <a:rPr lang="en-US" sz="900" dirty="0">
                <a:solidFill>
                  <a:srgbClr val="5A5A5A"/>
                </a:solidFill>
                <a:latin typeface="Courier New"/>
                <a:ea typeface="Courier New"/>
                <a:cs typeface="Courier New"/>
              </a:rPr>
              <a:t>OKF-CPT-05</a:t>
            </a:r>
            <a:r>
              <a:rPr lang="en-US" sz="1050" dirty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 = family CPT, check 05.</a:t>
            </a:r>
            <a:endParaRPr lang="en-US" sz="900" dirty="0"/>
          </a:p>
          <a:p>
            <a:pPr marL="0" indent="0">
              <a:spcBef>
                <a:spcPts val="400"/>
              </a:spcBef>
              <a:buNone/>
            </a:pPr>
            <a:r>
              <a:rPr lang="en-US" sz="1050" dirty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IDs are </a:t>
            </a:r>
            <a:r>
              <a:rPr lang="en-US" sz="1050" b="1" dirty="0">
                <a:solidFill>
                  <a:srgbClr val="C1121F"/>
                </a:solidFill>
                <a:latin typeface="Calibri"/>
                <a:ea typeface="Calibri"/>
                <a:cs typeface="Calibri"/>
              </a:rPr>
              <a:t>never renumbered</a:t>
            </a:r>
            <a:r>
              <a:rPr lang="en-US" sz="1050" dirty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, so two assessments diff row by row.</a:t>
            </a:r>
            <a:endParaRPr lang="en-US" sz="1050" dirty="0"/>
          </a:p>
          <a:p>
            <a:pPr marL="0" indent="0">
              <a:spcBef>
                <a:spcPts val="400"/>
              </a:spcBef>
              <a:buNone/>
            </a:pPr>
            <a:r>
              <a:rPr lang="en-US" sz="1050" dirty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A </a:t>
            </a:r>
            <a:r>
              <a:rPr lang="en-US" sz="1050" b="1" dirty="0">
                <a:solidFill>
                  <a:srgbClr val="C1121F"/>
                </a:solidFill>
                <a:latin typeface="Calibri"/>
                <a:ea typeface="Calibri"/>
                <a:cs typeface="Calibri"/>
              </a:rPr>
              <a:t>consumer MUST</a:t>
            </a:r>
            <a:r>
              <a:rPr lang="en-US" sz="1050" dirty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 needs an acceptance test against a real reader, not a look at the files.</a:t>
            </a:r>
            <a:endParaRPr lang="en-US" sz="1050" dirty="0"/>
          </a:p>
        </p:txBody>
      </p:sp>
      <p:sp>
        <p:nvSpPr>
          <p:cNvPr id="8" name="Shape 8"/>
          <p:cNvSpPr/>
          <p:nvPr/>
        </p:nvSpPr>
        <p:spPr>
          <a:xfrm>
            <a:off x="6174000" y="1638000"/>
            <a:ext cx="2583000" cy="4410000"/>
          </a:xfrm>
          <a:prstGeom prst="roundRect">
            <a:avLst>
              <a:gd name="adj" fmla="val 3000"/>
            </a:avLst>
          </a:prstGeom>
          <a:solidFill>
            <a:srgbClr val="EAEAEA"/>
          </a:solidFill>
          <a:ln w="12700">
            <a:solidFill>
              <a:srgbClr val="EAEAEA"/>
            </a:solidFill>
            <a:prstDash val="solid"/>
          </a:ln>
          <a:effectLst>
            <a:outerShdw blurRad="889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9"/>
          <p:cNvSpPr txBox="1"/>
          <p:nvPr/>
        </p:nvSpPr>
        <p:spPr>
          <a:xfrm>
            <a:off x="6318000" y="1782000"/>
            <a:ext cx="2295000" cy="412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C1121F"/>
                </a:solidFill>
                <a:latin typeface="Cambria"/>
                <a:ea typeface="Cambria"/>
                <a:cs typeface="Cambria"/>
              </a:rPr>
              <a:t>Provenance</a:t>
            </a:r>
            <a:r>
              <a:rPr lang="en-US" sz="950" dirty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   §5.1</a:t>
            </a:r>
            <a:endParaRPr lang="en-US" sz="1250" dirty="0"/>
          </a:p>
          <a:p>
            <a:pPr marL="694800" indent="-694800">
              <a:spcBef>
                <a:spcPts val="150"/>
              </a:spcBef>
              <a:buNone/>
            </a:pPr>
            <a:r>
              <a:rPr lang="en-US" sz="850" dirty="0">
                <a:solidFill>
                  <a:srgbClr val="5A5A5A"/>
                </a:solidFill>
                <a:latin typeface="Courier New"/>
                <a:ea typeface="Courier New"/>
                <a:cs typeface="Courier New"/>
              </a:rPr>
              <a:t>OKF-SRC-01 </a:t>
            </a:r>
            <a:r>
              <a:rPr lang="en-US" sz="1050" dirty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Every source has resource</a:t>
            </a:r>
            <a:endParaRPr lang="en-US" sz="850" dirty="0"/>
          </a:p>
          <a:p>
            <a:pPr marL="694800" indent="-694800">
              <a:spcBef>
                <a:spcPts val="150"/>
              </a:spcBef>
              <a:buNone/>
            </a:pPr>
            <a:r>
              <a:rPr lang="en-US" sz="850" dirty="0">
                <a:solidFill>
                  <a:srgbClr val="5A5A5A"/>
                </a:solidFill>
                <a:latin typeface="Courier New"/>
                <a:ea typeface="Courier New"/>
                <a:cs typeface="Courier New"/>
              </a:rPr>
              <a:t>OKF-SRC-02 </a:t>
            </a:r>
            <a:r>
              <a:rPr lang="en-US" sz="1050" dirty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Footnotes cite source IDs</a:t>
            </a:r>
            <a:endParaRPr lang="en-US" sz="850" dirty="0"/>
          </a:p>
          <a:p>
            <a:pPr marL="694800" indent="-694800">
              <a:spcBef>
                <a:spcPts val="150"/>
              </a:spcBef>
              <a:buNone/>
            </a:pPr>
            <a:r>
              <a:rPr lang="en-US" sz="850" dirty="0">
                <a:solidFill>
                  <a:srgbClr val="5A5A5A"/>
                </a:solidFill>
                <a:latin typeface="Courier New"/>
                <a:ea typeface="Courier New"/>
                <a:cs typeface="Courier New"/>
              </a:rPr>
              <a:t>OKF-SRC-03 </a:t>
            </a:r>
            <a:r>
              <a:rPr lang="en-US" sz="1050" dirty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Source titles</a:t>
            </a:r>
            <a:endParaRPr lang="en-US" sz="850" dirty="0"/>
          </a:p>
          <a:p>
            <a:pPr marL="694800" indent="-694800">
              <a:spcBef>
                <a:spcPts val="150"/>
              </a:spcBef>
              <a:buNone/>
            </a:pPr>
            <a:r>
              <a:rPr lang="en-US" sz="850" dirty="0">
                <a:solidFill>
                  <a:srgbClr val="5A5A5A"/>
                </a:solidFill>
                <a:latin typeface="Courier New"/>
                <a:ea typeface="Courier New"/>
                <a:cs typeface="Courier New"/>
              </a:rPr>
              <a:t>OKF-SRC-04 </a:t>
            </a:r>
            <a:r>
              <a:rPr lang="en-US" sz="1050" dirty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Credibility signals</a:t>
            </a:r>
            <a:endParaRPr lang="en-US" sz="850" dirty="0"/>
          </a:p>
          <a:p>
            <a:pPr marL="694800" indent="-694800">
              <a:spcBef>
                <a:spcPts val="150"/>
              </a:spcBef>
              <a:buNone/>
            </a:pPr>
            <a:r>
              <a:rPr lang="en-US" sz="850" dirty="0">
                <a:solidFill>
                  <a:srgbClr val="5A5A5A"/>
                </a:solidFill>
                <a:latin typeface="Courier New"/>
                <a:ea typeface="Courier New"/>
                <a:cs typeface="Courier New"/>
              </a:rPr>
              <a:t>OKF-SRC-05 </a:t>
            </a:r>
            <a:r>
              <a:rPr lang="en-US" sz="1050" dirty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usage_window frames usage counts</a:t>
            </a:r>
            <a:endParaRPr lang="en-US" sz="850" dirty="0"/>
          </a:p>
          <a:p>
            <a:pPr marL="694800" indent="-694800">
              <a:spcBef>
                <a:spcPts val="150"/>
              </a:spcBef>
              <a:buNone/>
            </a:pPr>
            <a:r>
              <a:rPr lang="en-US" sz="850" dirty="0">
                <a:solidFill>
                  <a:srgbClr val="5A5A5A"/>
                </a:solidFill>
                <a:latin typeface="Courier New"/>
                <a:ea typeface="Courier New"/>
                <a:cs typeface="Courier New"/>
              </a:rPr>
              <a:t>OKF-SRC-06 </a:t>
            </a:r>
            <a:r>
              <a:rPr lang="en-US" sz="1050" dirty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Lineage through links</a:t>
            </a:r>
            <a:endParaRPr lang="en-US" sz="850" dirty="0"/>
          </a:p>
          <a:p>
            <a:pPr marL="0" indent="0">
              <a:spcBef>
                <a:spcPts val="900"/>
              </a:spcBef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C1121F"/>
                </a:solidFill>
                <a:latin typeface="Cambria"/>
                <a:ea typeface="Cambria"/>
                <a:cs typeface="Cambria"/>
              </a:rPr>
              <a:t>Trust</a:t>
            </a:r>
            <a:r>
              <a:rPr lang="en-US" sz="950" dirty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   §5.2–5.3, §7</a:t>
            </a:r>
            <a:endParaRPr lang="en-US" sz="1250" dirty="0"/>
          </a:p>
          <a:p>
            <a:pPr marL="694800" indent="-694800">
              <a:spcBef>
                <a:spcPts val="150"/>
              </a:spcBef>
              <a:buNone/>
            </a:pPr>
            <a:r>
              <a:rPr lang="en-US" sz="850" dirty="0">
                <a:solidFill>
                  <a:srgbClr val="5A5A5A"/>
                </a:solidFill>
                <a:latin typeface="Courier New"/>
                <a:ea typeface="Courier New"/>
                <a:cs typeface="Courier New"/>
              </a:rPr>
              <a:t>OKF-TRU-01 </a:t>
            </a:r>
            <a:r>
              <a:rPr lang="en-US" sz="1050" dirty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generated well-formed</a:t>
            </a:r>
            <a:endParaRPr lang="en-US" sz="850" dirty="0"/>
          </a:p>
          <a:p>
            <a:pPr marL="694800" indent="-694800">
              <a:spcBef>
                <a:spcPts val="150"/>
              </a:spcBef>
              <a:buNone/>
            </a:pPr>
            <a:r>
              <a:rPr lang="en-US" sz="850" dirty="0">
                <a:solidFill>
                  <a:srgbClr val="5A5A5A"/>
                </a:solidFill>
                <a:latin typeface="Courier New"/>
                <a:ea typeface="Courier New"/>
                <a:cs typeface="Courier New"/>
              </a:rPr>
              <a:t>OKF-TRU-02 </a:t>
            </a:r>
            <a:r>
              <a:rPr lang="en-US" sz="1050" dirty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verified events</a:t>
            </a:r>
            <a:endParaRPr lang="en-US" sz="850" dirty="0"/>
          </a:p>
          <a:p>
            <a:pPr marL="694800" indent="-694800">
              <a:spcBef>
                <a:spcPts val="150"/>
              </a:spcBef>
              <a:buNone/>
            </a:pPr>
            <a:r>
              <a:rPr lang="en-US" sz="850" dirty="0">
                <a:solidFill>
                  <a:srgbClr val="5A5A5A"/>
                </a:solidFill>
                <a:latin typeface="Courier New"/>
                <a:ea typeface="Courier New"/>
                <a:cs typeface="Courier New"/>
              </a:rPr>
              <a:t>OKF-TRU-03 </a:t>
            </a:r>
            <a:r>
              <a:rPr lang="en-US" sz="1050" dirty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Bare verified read as a list</a:t>
            </a:r>
            <a:endParaRPr lang="en-US" sz="850" dirty="0"/>
          </a:p>
          <a:p>
            <a:pPr marL="694800" indent="-694800">
              <a:spcBef>
                <a:spcPts val="150"/>
              </a:spcBef>
              <a:buNone/>
            </a:pPr>
            <a:r>
              <a:rPr lang="en-US" sz="850" dirty="0">
                <a:solidFill>
                  <a:srgbClr val="5A5A5A"/>
                </a:solidFill>
                <a:latin typeface="Courier New"/>
                <a:ea typeface="Courier New"/>
                <a:cs typeface="Courier New"/>
              </a:rPr>
              <a:t>OKF-TRU-04 </a:t>
            </a:r>
            <a:r>
              <a:rPr lang="en-US" sz="1050" dirty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Trust tiers derived</a:t>
            </a:r>
            <a:endParaRPr lang="en-US" sz="850" dirty="0"/>
          </a:p>
          <a:p>
            <a:pPr marL="694800" indent="-694800">
              <a:spcBef>
                <a:spcPts val="150"/>
              </a:spcBef>
              <a:buNone/>
            </a:pPr>
            <a:r>
              <a:rPr lang="en-US" sz="850" dirty="0">
                <a:solidFill>
                  <a:srgbClr val="5A5A5A"/>
                </a:solidFill>
                <a:latin typeface="Courier New"/>
                <a:ea typeface="Courier New"/>
                <a:cs typeface="Courier New"/>
              </a:rPr>
              <a:t>OKF-TRU-05 </a:t>
            </a:r>
            <a:r>
              <a:rPr lang="en-US" sz="1050" dirty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Actor convention</a:t>
            </a:r>
            <a:endParaRPr lang="en-US" sz="850" dirty="0"/>
          </a:p>
        </p:txBody>
      </p:sp>
      <p:sp>
        <p:nvSpPr>
          <p:cNvPr id="10" name="Shape 10"/>
          <p:cNvSpPr/>
          <p:nvPr/>
        </p:nvSpPr>
        <p:spPr>
          <a:xfrm>
            <a:off x="8937000" y="1638000"/>
            <a:ext cx="2583000" cy="4410000"/>
          </a:xfrm>
          <a:prstGeom prst="roundRect">
            <a:avLst>
              <a:gd name="adj" fmla="val 3000"/>
            </a:avLst>
          </a:prstGeom>
          <a:solidFill>
            <a:srgbClr val="F4F4F4"/>
          </a:solidFill>
          <a:ln w="12700">
            <a:solidFill>
              <a:srgbClr val="F4F4F4"/>
            </a:solidFill>
            <a:prstDash val="solid"/>
          </a:ln>
          <a:effectLst>
            <a:outerShdw blurRad="889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11"/>
          <p:cNvSpPr txBox="1"/>
          <p:nvPr/>
        </p:nvSpPr>
        <p:spPr>
          <a:xfrm>
            <a:off x="9081000" y="1782000"/>
            <a:ext cx="2295000" cy="412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C1121F"/>
                </a:solidFill>
                <a:latin typeface="Cambria"/>
                <a:ea typeface="Cambria"/>
                <a:cs typeface="Cambria"/>
              </a:rPr>
              <a:t>Lifecycle</a:t>
            </a:r>
            <a:r>
              <a:rPr lang="en-US" sz="950" dirty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   §5.4–5.5</a:t>
            </a:r>
            <a:endParaRPr lang="en-US" sz="1250" dirty="0"/>
          </a:p>
          <a:p>
            <a:pPr marL="694800" indent="-694800">
              <a:spcBef>
                <a:spcPts val="150"/>
              </a:spcBef>
              <a:buNone/>
            </a:pPr>
            <a:r>
              <a:rPr lang="en-US" sz="850" dirty="0">
                <a:solidFill>
                  <a:srgbClr val="5A5A5A"/>
                </a:solidFill>
                <a:latin typeface="Courier New"/>
                <a:ea typeface="Courier New"/>
                <a:cs typeface="Courier New"/>
              </a:rPr>
              <a:t>OKF-LIF-01 </a:t>
            </a:r>
            <a:r>
              <a:rPr lang="en-US" sz="1050" dirty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status values</a:t>
            </a:r>
            <a:endParaRPr lang="en-US" sz="850" dirty="0"/>
          </a:p>
          <a:p>
            <a:pPr marL="694800" indent="-694800">
              <a:spcBef>
                <a:spcPts val="150"/>
              </a:spcBef>
              <a:buNone/>
            </a:pPr>
            <a:r>
              <a:rPr lang="en-US" sz="850" dirty="0">
                <a:solidFill>
                  <a:srgbClr val="5A5A5A"/>
                </a:solidFill>
                <a:latin typeface="Courier New"/>
                <a:ea typeface="Courier New"/>
                <a:cs typeface="Courier New"/>
              </a:rPr>
              <a:t>OKF-LIF-02 </a:t>
            </a:r>
            <a:r>
              <a:rPr lang="en-US" sz="1050" dirty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stale_after is an instant</a:t>
            </a:r>
            <a:endParaRPr lang="en-US" sz="850" dirty="0"/>
          </a:p>
          <a:p>
            <a:pPr marL="0" indent="0">
              <a:spcBef>
                <a:spcPts val="900"/>
              </a:spcBef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C1121F"/>
                </a:solidFill>
                <a:latin typeface="Cambria"/>
                <a:ea typeface="Cambria"/>
                <a:cs typeface="Cambria"/>
              </a:rPr>
              <a:t>Cross-linking and paths</a:t>
            </a:r>
            <a:r>
              <a:rPr lang="en-US" sz="950" dirty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   §6</a:t>
            </a:r>
            <a:endParaRPr lang="en-US" sz="1250" dirty="0"/>
          </a:p>
          <a:p>
            <a:pPr marL="694800" indent="-694800">
              <a:spcBef>
                <a:spcPts val="150"/>
              </a:spcBef>
              <a:buNone/>
            </a:pPr>
            <a:r>
              <a:rPr lang="en-US" sz="850" dirty="0">
                <a:solidFill>
                  <a:srgbClr val="5A5A5A"/>
                </a:solidFill>
                <a:latin typeface="Courier New"/>
                <a:ea typeface="Courier New"/>
                <a:cs typeface="Courier New"/>
              </a:rPr>
              <a:t>OKF-LNK-01 </a:t>
            </a:r>
            <a:r>
              <a:rPr lang="en-US" sz="1050" dirty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Standard Markdown links</a:t>
            </a:r>
            <a:endParaRPr lang="en-US" sz="850" dirty="0"/>
          </a:p>
          <a:p>
            <a:pPr marL="694800" indent="-694800">
              <a:spcBef>
                <a:spcPts val="150"/>
              </a:spcBef>
              <a:buNone/>
            </a:pPr>
            <a:r>
              <a:rPr lang="en-US" sz="850" dirty="0">
                <a:solidFill>
                  <a:srgbClr val="5A5A5A"/>
                </a:solidFill>
                <a:latin typeface="Courier New"/>
                <a:ea typeface="Courier New"/>
                <a:cs typeface="Courier New"/>
              </a:rPr>
              <a:t>OKF-LNK-02 </a:t>
            </a:r>
            <a:r>
              <a:rPr lang="en-US" sz="1050" dirty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Bundle-absolute links preferred</a:t>
            </a:r>
            <a:endParaRPr lang="en-US" sz="850" dirty="0"/>
          </a:p>
          <a:p>
            <a:pPr marL="694800" indent="-694800">
              <a:spcBef>
                <a:spcPts val="150"/>
              </a:spcBef>
              <a:buNone/>
            </a:pPr>
            <a:r>
              <a:rPr lang="en-US" sz="850" dirty="0">
                <a:solidFill>
                  <a:srgbClr val="5A5A5A"/>
                </a:solidFill>
                <a:latin typeface="Courier New"/>
                <a:ea typeface="Courier New"/>
                <a:cs typeface="Courier New"/>
              </a:rPr>
              <a:t>OKF-LNK-03 </a:t>
            </a:r>
            <a:r>
              <a:rPr lang="en-US" sz="1050" dirty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Broken links tolerated</a:t>
            </a:r>
            <a:endParaRPr lang="en-US" sz="850" dirty="0"/>
          </a:p>
          <a:p>
            <a:pPr marL="694800" indent="-694800">
              <a:spcBef>
                <a:spcPts val="150"/>
              </a:spcBef>
              <a:buNone/>
            </a:pPr>
            <a:r>
              <a:rPr lang="en-US" sz="850" dirty="0">
                <a:solidFill>
                  <a:srgbClr val="5A5A5A"/>
                </a:solidFill>
                <a:latin typeface="Courier New"/>
                <a:ea typeface="Courier New"/>
                <a:cs typeface="Courier New"/>
              </a:rPr>
              <a:t>OKF-LNK-04 </a:t>
            </a:r>
            <a:r>
              <a:rPr lang="en-US" sz="1050" dirty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Path-valued fields resolve</a:t>
            </a:r>
            <a:endParaRPr lang="en-US" sz="850" dirty="0"/>
          </a:p>
          <a:p>
            <a:pPr marL="694800" indent="-694800">
              <a:spcBef>
                <a:spcPts val="150"/>
              </a:spcBef>
              <a:buNone/>
            </a:pPr>
            <a:r>
              <a:rPr lang="en-US" sz="850" dirty="0">
                <a:solidFill>
                  <a:srgbClr val="5A5A5A"/>
                </a:solidFill>
                <a:latin typeface="Courier New"/>
                <a:ea typeface="Courier New"/>
                <a:cs typeface="Courier New"/>
              </a:rPr>
              <a:t>OKF-LNK-05 </a:t>
            </a:r>
            <a:r>
              <a:rPr lang="en-US" sz="1050" dirty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references/ for external material</a:t>
            </a:r>
            <a:endParaRPr lang="en-US" sz="850" dirty="0"/>
          </a:p>
          <a:p>
            <a:pPr marL="0" indent="0">
              <a:spcBef>
                <a:spcPts val="900"/>
              </a:spcBef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C1121F"/>
                </a:solidFill>
                <a:latin typeface="Cambria"/>
                <a:ea typeface="Cambria"/>
                <a:cs typeface="Cambria"/>
              </a:rPr>
              <a:t>Attested computations</a:t>
            </a:r>
            <a:r>
              <a:rPr lang="en-US" sz="950" dirty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   §10</a:t>
            </a:r>
            <a:endParaRPr lang="en-US" sz="1250" dirty="0"/>
          </a:p>
          <a:p>
            <a:pPr marL="694800" indent="-694800">
              <a:spcBef>
                <a:spcPts val="150"/>
              </a:spcBef>
              <a:buNone/>
            </a:pPr>
            <a:r>
              <a:rPr lang="en-US" sz="850" dirty="0">
                <a:solidFill>
                  <a:srgbClr val="5A5A5A"/>
                </a:solidFill>
                <a:latin typeface="Courier New"/>
                <a:ea typeface="Courier New"/>
                <a:cs typeface="Courier New"/>
              </a:rPr>
              <a:t>OKF-CMP-01 </a:t>
            </a:r>
            <a:r>
              <a:rPr lang="en-US" sz="1050" dirty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Attested computation contract</a:t>
            </a:r>
            <a:endParaRPr lang="en-US" sz="850" dirty="0"/>
          </a:p>
          <a:p>
            <a:pPr marL="694800" indent="-694800">
              <a:spcBef>
                <a:spcPts val="150"/>
              </a:spcBef>
              <a:buNone/>
            </a:pPr>
            <a:r>
              <a:rPr lang="en-US" sz="850" dirty="0">
                <a:solidFill>
                  <a:srgbClr val="5A5A5A"/>
                </a:solidFill>
                <a:latin typeface="Courier New"/>
                <a:ea typeface="Courier New"/>
                <a:cs typeface="Courier New"/>
              </a:rPr>
              <a:t>OKF-CMP-02 </a:t>
            </a:r>
            <a:r>
              <a:rPr lang="en-US" sz="1050" dirty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Deterministic attester</a:t>
            </a:r>
            <a:endParaRPr lang="en-US" sz="850" dirty="0"/>
          </a:p>
          <a:p>
            <a:pPr marL="0" indent="0">
              <a:spcBef>
                <a:spcPts val="1200"/>
              </a:spcBef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C1121F"/>
                </a:solidFill>
                <a:latin typeface="Cambria"/>
                <a:ea typeface="Cambria"/>
                <a:cs typeface="Cambria"/>
              </a:rPr>
              <a:t>Status per check</a:t>
            </a:r>
            <a:endParaRPr lang="en-US" sz="1250" dirty="0"/>
          </a:p>
          <a:p>
            <a:pPr marL="0" indent="0">
              <a:buNone/>
            </a:pPr>
            <a:r>
              <a:rPr lang="en-US" sz="1050" dirty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meets · partial · deviates</a:t>
            </a:r>
            <a:endParaRPr lang="en-US" sz="1050" dirty="0"/>
          </a:p>
          <a:p>
            <a:pPr marL="0" indent="0">
              <a:spcBef>
                <a:spcPts val="150"/>
              </a:spcBef>
              <a:buNone/>
            </a:pPr>
            <a:r>
              <a:rPr lang="en-US" sz="1050" dirty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not adopted · n/a</a:t>
            </a:r>
            <a:endParaRPr lang="en-US" sz="1050" dirty="0"/>
          </a:p>
        </p:txBody>
      </p:sp>
      <p:sp>
        <p:nvSpPr>
          <p:cNvPr id="12" name="Text 12"/>
          <p:cNvSpPr txBox="1"/>
          <p:nvPr/>
        </p:nvSpPr>
        <p:spPr>
          <a:xfrm>
            <a:off x="648000" y="6174000"/>
            <a:ext cx="10872000" cy="46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i="1" dirty="0">
                <a:solidFill>
                  <a:srgbClr val="C1121F"/>
                </a:solidFill>
                <a:latin typeface="Calibri"/>
                <a:ea typeface="Calibri"/>
                <a:cs typeface="Calibri"/>
              </a:rPr>
              <a:t>Red: </a:t>
            </a:r>
            <a:r>
              <a:rPr lang="en-US" sz="1150" i="1" dirty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the three REQUIRED criteria — they alone decide conformance. </a:t>
            </a:r>
            <a:endParaRPr lang="en-US" sz="1150" b="1" i="1" dirty="0">
              <a:solidFill>
                <a:srgbClr val="5A5A5A"/>
              </a:solidFill>
              <a:latin typeface="Calibri"/>
              <a:ea typeface="Calibri"/>
              <a:cs typeface="Calibri"/>
            </a:endParaRPr>
          </a:p>
          <a:p>
            <a:pPr marL="0" indent="0">
              <a:buNone/>
            </a:pPr>
            <a:endParaRPr lang="en-US" sz="1150" dirty="0"/>
          </a:p>
        </p:txBody>
      </p:sp>
      <p:sp>
        <p:nvSpPr>
          <p:cNvPr id="13" name="Agenda 13"/>
          <p:cNvSpPr txBox="1"/>
          <p:nvPr/>
        </p:nvSpPr>
        <p:spPr>
          <a:xfrm>
            <a:off x="648000" y="136800"/>
            <a:ext cx="2439000" cy="1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spc="100" dirty="0">
                <a:solidFill>
                  <a:srgbClr val="9A9A9A"/>
                </a:solidFill>
                <a:latin typeface="Calibri"/>
                <a:ea typeface="Calibri"/>
                <a:cs typeface="Calibri"/>
              </a:rPr>
              <a:t>01  </a:t>
            </a:r>
            <a:r>
              <a:rPr lang="en-US" sz="850" spc="100" dirty="0">
                <a:solidFill>
                  <a:srgbClr val="9A9A9A"/>
                </a:solidFill>
                <a:latin typeface="Calibri"/>
                <a:ea typeface="Calibri"/>
                <a:cs typeface="Calibri"/>
              </a:rPr>
              <a:t>CONTEXT ENGINEERING</a:t>
            </a:r>
          </a:p>
        </p:txBody>
      </p:sp>
      <p:sp>
        <p:nvSpPr>
          <p:cNvPr id="14" name="Agenda 14"/>
          <p:cNvSpPr/>
          <p:nvPr/>
        </p:nvSpPr>
        <p:spPr>
          <a:xfrm>
            <a:off x="648000" y="331200"/>
            <a:ext cx="2439000" cy="21600"/>
          </a:xfrm>
          <a:prstGeom prst="rect">
            <a:avLst/>
          </a:prstGeom>
          <a:solidFill>
            <a:srgbClr val="E2E2E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" name="Agenda 15"/>
          <p:cNvSpPr txBox="1"/>
          <p:nvPr/>
        </p:nvSpPr>
        <p:spPr>
          <a:xfrm>
            <a:off x="3195000" y="136800"/>
            <a:ext cx="2439000" cy="1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spc="100" dirty="0">
                <a:solidFill>
                  <a:srgbClr val="9A9A9A"/>
                </a:solidFill>
                <a:latin typeface="Calibri"/>
                <a:ea typeface="Calibri"/>
                <a:cs typeface="Calibri"/>
              </a:rPr>
              <a:t>02  </a:t>
            </a:r>
            <a:r>
              <a:rPr lang="en-US" sz="850" spc="100" dirty="0">
                <a:solidFill>
                  <a:srgbClr val="9A9A9A"/>
                </a:solidFill>
                <a:latin typeface="Calibri"/>
                <a:ea typeface="Calibri"/>
                <a:cs typeface="Calibri"/>
              </a:rPr>
              <a:t>LLM WIKI</a:t>
            </a:r>
          </a:p>
        </p:txBody>
      </p:sp>
      <p:sp>
        <p:nvSpPr>
          <p:cNvPr id="16" name="Agenda 16"/>
          <p:cNvSpPr/>
          <p:nvPr/>
        </p:nvSpPr>
        <p:spPr>
          <a:xfrm>
            <a:off x="3195000" y="331200"/>
            <a:ext cx="2439000" cy="21600"/>
          </a:xfrm>
          <a:prstGeom prst="rect">
            <a:avLst/>
          </a:prstGeom>
          <a:solidFill>
            <a:srgbClr val="E2E2E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7" name="Agenda 17"/>
          <p:cNvSpPr txBox="1"/>
          <p:nvPr/>
        </p:nvSpPr>
        <p:spPr>
          <a:xfrm>
            <a:off x="5742000" y="136800"/>
            <a:ext cx="2439000" cy="1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spc="100" dirty="0">
                <a:solidFill>
                  <a:srgbClr val="C1121F"/>
                </a:solidFill>
                <a:latin typeface="Calibri"/>
                <a:ea typeface="Calibri"/>
                <a:cs typeface="Calibri"/>
              </a:rPr>
              <a:t>03  OKF PRODUCT DOCUMENTATION</a:t>
            </a:r>
          </a:p>
        </p:txBody>
      </p:sp>
      <p:sp>
        <p:nvSpPr>
          <p:cNvPr id="18" name="Agenda 18"/>
          <p:cNvSpPr/>
          <p:nvPr/>
        </p:nvSpPr>
        <p:spPr>
          <a:xfrm>
            <a:off x="5742000" y="331200"/>
            <a:ext cx="2439000" cy="43200"/>
          </a:xfrm>
          <a:prstGeom prst="rect">
            <a:avLst/>
          </a:prstGeom>
          <a:solidFill>
            <a:srgbClr val="C1121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9" name="Agenda 19"/>
          <p:cNvSpPr txBox="1"/>
          <p:nvPr/>
        </p:nvSpPr>
        <p:spPr>
          <a:xfrm>
            <a:off x="8289000" y="136800"/>
            <a:ext cx="2439000" cy="1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spc="100" dirty="0">
                <a:solidFill>
                  <a:srgbClr val="9A9A9A"/>
                </a:solidFill>
                <a:latin typeface="Calibri"/>
                <a:ea typeface="Calibri"/>
                <a:cs typeface="Calibri"/>
              </a:rPr>
              <a:t>04  </a:t>
            </a:r>
            <a:r>
              <a:rPr lang="en-US" sz="850" spc="100" dirty="0">
                <a:solidFill>
                  <a:srgbClr val="9A9A9A"/>
                </a:solidFill>
                <a:latin typeface="Calibri"/>
                <a:ea typeface="Calibri"/>
                <a:cs typeface="Calibri"/>
              </a:rPr>
              <a:t>CONCLUSION</a:t>
            </a:r>
          </a:p>
        </p:txBody>
      </p:sp>
      <p:sp>
        <p:nvSpPr>
          <p:cNvPr id="20" name="Agenda 20"/>
          <p:cNvSpPr/>
          <p:nvPr/>
        </p:nvSpPr>
        <p:spPr>
          <a:xfrm>
            <a:off x="8289000" y="331200"/>
            <a:ext cx="2439000" cy="21600"/>
          </a:xfrm>
          <a:prstGeom prst="rect">
            <a:avLst/>
          </a:prstGeom>
          <a:solidFill>
            <a:srgbClr val="E2E2E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8856000" y="-1152000"/>
            <a:ext cx="4932000" cy="4932000"/>
          </a:xfrm>
          <a:prstGeom prst="ellipse">
            <a:avLst/>
          </a:prstGeom>
          <a:solidFill>
            <a:srgbClr val="C1121F"/>
          </a:solidFill>
          <a:ln w="12700">
            <a:solidFill>
              <a:srgbClr val="C1121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3"/>
          <p:cNvSpPr/>
          <p:nvPr/>
        </p:nvSpPr>
        <p:spPr>
          <a:xfrm>
            <a:off x="10692000" y="4392000"/>
            <a:ext cx="2916000" cy="2916000"/>
          </a:xfrm>
          <a:prstGeom prst="ellipse">
            <a:avLst/>
          </a:prstGeom>
          <a:solidFill>
            <a:srgbClr val="8B0D14"/>
          </a:solidFill>
          <a:ln w="12700">
            <a:solidFill>
              <a:srgbClr val="8B0D14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5"/>
          <p:cNvSpPr txBox="1"/>
          <p:nvPr/>
        </p:nvSpPr>
        <p:spPr>
          <a:xfrm>
            <a:off x="828000" y="2088000"/>
            <a:ext cx="7740000" cy="86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spc="0" dirty="0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Conclusion</a:t>
            </a:r>
          </a:p>
        </p:txBody>
      </p:sp>
      <p:sp>
        <p:nvSpPr>
          <p:cNvPr id="6" name="Text 6"/>
          <p:cNvSpPr txBox="1"/>
          <p:nvPr/>
        </p:nvSpPr>
        <p:spPr>
          <a:xfrm>
            <a:off x="828000" y="2952000"/>
            <a:ext cx="7740000" cy="43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spc="0" dirty="0">
                <a:solidFill>
                  <a:srgbClr val="D6D6D6"/>
                </a:solidFill>
                <a:latin typeface="Calibri"/>
                <a:ea typeface="Calibri"/>
                <a:cs typeface="Calibri"/>
              </a:rPr>
              <a:t>Why this belongs on the PO / BA desk — and what to try next</a:t>
            </a:r>
          </a:p>
        </p:txBody>
      </p:sp>
      <p:sp>
        <p:nvSpPr>
          <p:cNvPr id="7" name="Agenda 7"/>
          <p:cNvSpPr/>
          <p:nvPr/>
        </p:nvSpPr>
        <p:spPr>
          <a:xfrm>
            <a:off x="828000" y="3672000"/>
            <a:ext cx="936000" cy="43200"/>
          </a:xfrm>
          <a:prstGeom prst="rect">
            <a:avLst/>
          </a:prstGeom>
          <a:solidFill>
            <a:srgbClr val="C1121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" name="Agenda 8"/>
          <p:cNvSpPr txBox="1"/>
          <p:nvPr/>
        </p:nvSpPr>
        <p:spPr>
          <a:xfrm>
            <a:off x="1044000" y="4032000"/>
            <a:ext cx="576000" cy="3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spc="0" dirty="0">
                <a:solidFill>
                  <a:srgbClr val="6E6E6E"/>
                </a:solidFill>
                <a:latin typeface="Cambria"/>
                <a:ea typeface="Cambria"/>
                <a:cs typeface="Cambria"/>
              </a:rPr>
              <a:t>01</a:t>
            </a:r>
          </a:p>
        </p:txBody>
      </p:sp>
      <p:sp>
        <p:nvSpPr>
          <p:cNvPr id="9" name="Agenda 9"/>
          <p:cNvSpPr txBox="1"/>
          <p:nvPr/>
        </p:nvSpPr>
        <p:spPr>
          <a:xfrm>
            <a:off x="1584000" y="4032000"/>
            <a:ext cx="6480000" cy="3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spc="0" dirty="0">
                <a:solidFill>
                  <a:srgbClr val="8A8A8A"/>
                </a:solidFill>
                <a:latin typeface="Calibri"/>
                <a:ea typeface="Calibri"/>
                <a:cs typeface="Calibri"/>
              </a:rPr>
              <a:t>Context Engineering</a:t>
            </a:r>
          </a:p>
        </p:txBody>
      </p:sp>
      <p:sp>
        <p:nvSpPr>
          <p:cNvPr id="10" name="Agenda 10"/>
          <p:cNvSpPr txBox="1"/>
          <p:nvPr/>
        </p:nvSpPr>
        <p:spPr>
          <a:xfrm>
            <a:off x="1044000" y="4482000"/>
            <a:ext cx="576000" cy="3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spc="0" dirty="0">
                <a:solidFill>
                  <a:srgbClr val="6E6E6E"/>
                </a:solidFill>
                <a:latin typeface="Cambria"/>
                <a:ea typeface="Cambria"/>
                <a:cs typeface="Cambria"/>
              </a:rPr>
              <a:t>02</a:t>
            </a:r>
          </a:p>
        </p:txBody>
      </p:sp>
      <p:sp>
        <p:nvSpPr>
          <p:cNvPr id="11" name="Agenda 11"/>
          <p:cNvSpPr txBox="1"/>
          <p:nvPr/>
        </p:nvSpPr>
        <p:spPr>
          <a:xfrm>
            <a:off x="1584000" y="4482000"/>
            <a:ext cx="6480000" cy="3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spc="0" dirty="0">
                <a:solidFill>
                  <a:srgbClr val="8A8A8A"/>
                </a:solidFill>
                <a:latin typeface="Calibri"/>
                <a:ea typeface="Calibri"/>
                <a:cs typeface="Calibri"/>
              </a:rPr>
              <a:t>LLM Wiki</a:t>
            </a:r>
          </a:p>
        </p:txBody>
      </p:sp>
      <p:sp>
        <p:nvSpPr>
          <p:cNvPr id="12" name="Agenda 12"/>
          <p:cNvSpPr txBox="1"/>
          <p:nvPr/>
        </p:nvSpPr>
        <p:spPr>
          <a:xfrm>
            <a:off x="1044000" y="4932000"/>
            <a:ext cx="576000" cy="3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spc="0" dirty="0">
                <a:solidFill>
                  <a:srgbClr val="6E6E6E"/>
                </a:solidFill>
                <a:latin typeface="Cambria"/>
                <a:ea typeface="Cambria"/>
                <a:cs typeface="Cambria"/>
              </a:rPr>
              <a:t>03</a:t>
            </a:r>
          </a:p>
        </p:txBody>
      </p:sp>
      <p:sp>
        <p:nvSpPr>
          <p:cNvPr id="13" name="Agenda 13"/>
          <p:cNvSpPr txBox="1"/>
          <p:nvPr/>
        </p:nvSpPr>
        <p:spPr>
          <a:xfrm>
            <a:off x="1584000" y="4932000"/>
            <a:ext cx="6480000" cy="3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spc="0" dirty="0">
                <a:solidFill>
                  <a:srgbClr val="8A8A8A"/>
                </a:solidFill>
                <a:latin typeface="Calibri"/>
                <a:ea typeface="Calibri"/>
                <a:cs typeface="Calibri"/>
              </a:rPr>
              <a:t>OKF Product Documentation</a:t>
            </a:r>
          </a:p>
        </p:txBody>
      </p:sp>
      <p:sp>
        <p:nvSpPr>
          <p:cNvPr id="14" name="Agenda 14"/>
          <p:cNvSpPr/>
          <p:nvPr/>
        </p:nvSpPr>
        <p:spPr>
          <a:xfrm>
            <a:off x="828000" y="5425200"/>
            <a:ext cx="43200" cy="273600"/>
          </a:xfrm>
          <a:prstGeom prst="rect">
            <a:avLst/>
          </a:prstGeom>
          <a:solidFill>
            <a:srgbClr val="C1121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" name="Agenda 15"/>
          <p:cNvSpPr txBox="1"/>
          <p:nvPr/>
        </p:nvSpPr>
        <p:spPr>
          <a:xfrm>
            <a:off x="1044000" y="5382000"/>
            <a:ext cx="576000" cy="3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spc="0" dirty="0">
                <a:solidFill>
                  <a:srgbClr val="C1121F"/>
                </a:solidFill>
                <a:latin typeface="Cambria"/>
                <a:ea typeface="Cambria"/>
                <a:cs typeface="Cambria"/>
              </a:rPr>
              <a:t>04</a:t>
            </a:r>
          </a:p>
        </p:txBody>
      </p:sp>
      <p:sp>
        <p:nvSpPr>
          <p:cNvPr id="16" name="Agenda 16"/>
          <p:cNvSpPr txBox="1"/>
          <p:nvPr/>
        </p:nvSpPr>
        <p:spPr>
          <a:xfrm>
            <a:off x="1584000" y="5382000"/>
            <a:ext cx="6480000" cy="3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spc="0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Conclusion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414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this belongs on the PO / BA desk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115568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case that context has become a product artifact — and that you are already its owner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4114800" cy="4069080"/>
          </a:xfrm>
          <a:prstGeom prst="roundRect">
            <a:avLst>
              <a:gd name="adj" fmla="val 1348"/>
            </a:avLst>
          </a:prstGeom>
          <a:solidFill>
            <a:srgbClr val="141414"/>
          </a:solidFill>
          <a:ln w="12700">
            <a:solidFill>
              <a:srgbClr val="141414"/>
            </a:solidFill>
            <a:prstDash val="solid"/>
          </a:ln>
          <a:effectLst>
            <a:outerShdw blurRad="889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883636" y="2316096"/>
            <a:ext cx="3520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BDBDB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model is a commodity.</a:t>
            </a:r>
            <a:endParaRPr lang="en-US" sz="2300" dirty="0"/>
          </a:p>
        </p:txBody>
      </p:sp>
      <p:sp>
        <p:nvSpPr>
          <p:cNvPr id="6" name="Text 4"/>
          <p:cNvSpPr txBox="1"/>
          <p:nvPr/>
        </p:nvSpPr>
        <p:spPr>
          <a:xfrm>
            <a:off x="937260" y="3621024"/>
            <a:ext cx="3520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context your organisation feeds it is not.</a:t>
            </a:r>
            <a:endParaRPr lang="en-US" sz="2300" dirty="0"/>
          </a:p>
        </p:txBody>
      </p:sp>
      <p:sp>
        <p:nvSpPr>
          <p:cNvPr id="8" name="Shape 6"/>
          <p:cNvSpPr/>
          <p:nvPr/>
        </p:nvSpPr>
        <p:spPr>
          <a:xfrm>
            <a:off x="5120640" y="1792224"/>
            <a:ext cx="384048" cy="384048"/>
          </a:xfrm>
          <a:prstGeom prst="ellipse">
            <a:avLst/>
          </a:prstGeom>
          <a:solidFill>
            <a:srgbClr val="C1121F"/>
          </a:solidFill>
          <a:ln w="12700">
            <a:solidFill>
              <a:srgbClr val="C1121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5120640" y="17922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5669280" y="1737360"/>
            <a:ext cx="5852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already own the raw material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5669280" y="2066544"/>
            <a:ext cx="585216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Acceptance criteria, domain glossaries, process rules, known edge cases. </a:t>
            </a:r>
            <a:r>
              <a:rPr lang="en-US" sz="1250" b="1" dirty="0">
                <a:solidFill>
                  <a:srgbClr val="C11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is the corpus</a:t>
            </a:r>
            <a:r>
              <a:rPr lang="en-US" sz="12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no one else on the team can write it.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120640" y="2862072"/>
            <a:ext cx="384048" cy="384048"/>
          </a:xfrm>
          <a:prstGeom prst="ellipse">
            <a:avLst/>
          </a:prstGeom>
          <a:solidFill>
            <a:srgbClr val="141414"/>
          </a:solidFill>
          <a:ln w="12700">
            <a:solidFill>
              <a:srgbClr val="14141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 txBox="1"/>
          <p:nvPr/>
        </p:nvSpPr>
        <p:spPr>
          <a:xfrm>
            <a:off x="5120640" y="28620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5669280" y="2807208"/>
            <a:ext cx="5852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specification work, not ML work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5669280" y="3136392"/>
            <a:ext cx="585216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concept page needs the same discipline as a good user story: </a:t>
            </a:r>
            <a:r>
              <a:rPr lang="en-US" sz="1250" b="1" dirty="0">
                <a:solidFill>
                  <a:srgbClr val="C11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thing, unambiguous</a:t>
            </a:r>
            <a:r>
              <a:rPr lang="en-US" sz="12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with examples and exceptions. Markdown in git.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120640" y="3931920"/>
            <a:ext cx="384048" cy="384048"/>
          </a:xfrm>
          <a:prstGeom prst="ellipse">
            <a:avLst/>
          </a:prstGeom>
          <a:solidFill>
            <a:srgbClr val="C1121F"/>
          </a:solidFill>
          <a:ln w="12700">
            <a:solidFill>
              <a:srgbClr val="C1121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 txBox="1"/>
          <p:nvPr/>
        </p:nvSpPr>
        <p:spPr>
          <a:xfrm>
            <a:off x="5120640" y="3931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5669280" y="3877056"/>
            <a:ext cx="5852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features get checked against the design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5669280" y="4206240"/>
            <a:ext cx="5852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 change request, the agent </a:t>
            </a:r>
            <a:r>
              <a:rPr lang="en-US" sz="1250" b="1" dirty="0">
                <a:solidFill>
                  <a:srgbClr val="C11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validates a proposed feature</a:t>
            </a:r>
            <a:r>
              <a:rPr lang="en-US" sz="12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against recorded system design and process rules — conflicts surface as </a:t>
            </a:r>
            <a:r>
              <a:rPr lang="en-US" sz="1250" b="1" dirty="0">
                <a:solidFill>
                  <a:srgbClr val="C11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questions, not rework</a:t>
            </a:r>
            <a:r>
              <a:rPr lang="en-US" sz="12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120640" y="5001768"/>
            <a:ext cx="384048" cy="384048"/>
          </a:xfrm>
          <a:prstGeom prst="ellipse">
            <a:avLst/>
          </a:prstGeom>
          <a:solidFill>
            <a:srgbClr val="141414"/>
          </a:solidFill>
          <a:ln w="12700">
            <a:solidFill>
              <a:srgbClr val="14141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 txBox="1"/>
          <p:nvPr/>
        </p:nvSpPr>
        <p:spPr>
          <a:xfrm>
            <a:off x="5120640" y="50017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5669280" y="4946904"/>
            <a:ext cx="5852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Sign-off becomes a field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5669280" y="5276088"/>
            <a:ext cx="5852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C11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verified: human:&lt;you&gt;</a:t>
            </a:r>
            <a:r>
              <a:rPr lang="en-US" sz="12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puts review in the workflow. Trust tiers let a consuming agent refuse to act on unreviewed context.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654696" y="6153912"/>
            <a:ext cx="48646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Counterpoint worth voicing:  a poorly governed bundle is worse than no bundle.</a:t>
            </a:r>
            <a:endParaRPr lang="en-US" sz="1150" dirty="0"/>
          </a:p>
        </p:txBody>
      </p:sp>
      <p:sp>
        <p:nvSpPr>
          <p:cNvPr id="25" name="Agenda 25"/>
          <p:cNvSpPr txBox="1"/>
          <p:nvPr/>
        </p:nvSpPr>
        <p:spPr>
          <a:xfrm>
            <a:off x="648000" y="136800"/>
            <a:ext cx="2439000" cy="1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spc="100" dirty="0">
                <a:solidFill>
                  <a:srgbClr val="9A9A9A"/>
                </a:solidFill>
                <a:latin typeface="Calibri"/>
                <a:ea typeface="Calibri"/>
                <a:cs typeface="Calibri"/>
              </a:rPr>
              <a:t>01  </a:t>
            </a:r>
            <a:r>
              <a:rPr lang="en-US" sz="850" spc="100" dirty="0">
                <a:solidFill>
                  <a:srgbClr val="9A9A9A"/>
                </a:solidFill>
                <a:latin typeface="Calibri"/>
                <a:ea typeface="Calibri"/>
                <a:cs typeface="Calibri"/>
              </a:rPr>
              <a:t>CONTEXT ENGINEERING</a:t>
            </a:r>
          </a:p>
        </p:txBody>
      </p:sp>
      <p:sp>
        <p:nvSpPr>
          <p:cNvPr id="26" name="Agenda 26"/>
          <p:cNvSpPr/>
          <p:nvPr/>
        </p:nvSpPr>
        <p:spPr>
          <a:xfrm>
            <a:off x="648000" y="331200"/>
            <a:ext cx="2439000" cy="21600"/>
          </a:xfrm>
          <a:prstGeom prst="rect">
            <a:avLst/>
          </a:prstGeom>
          <a:solidFill>
            <a:srgbClr val="E2E2E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7" name="Agenda 27"/>
          <p:cNvSpPr txBox="1"/>
          <p:nvPr/>
        </p:nvSpPr>
        <p:spPr>
          <a:xfrm>
            <a:off x="3195000" y="136800"/>
            <a:ext cx="2439000" cy="1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spc="100" dirty="0">
                <a:solidFill>
                  <a:srgbClr val="9A9A9A"/>
                </a:solidFill>
                <a:latin typeface="Calibri"/>
                <a:ea typeface="Calibri"/>
                <a:cs typeface="Calibri"/>
              </a:rPr>
              <a:t>02  </a:t>
            </a:r>
            <a:r>
              <a:rPr lang="en-US" sz="850" spc="100" dirty="0">
                <a:solidFill>
                  <a:srgbClr val="9A9A9A"/>
                </a:solidFill>
                <a:latin typeface="Calibri"/>
                <a:ea typeface="Calibri"/>
                <a:cs typeface="Calibri"/>
              </a:rPr>
              <a:t>LLM WIKI</a:t>
            </a:r>
          </a:p>
        </p:txBody>
      </p:sp>
      <p:sp>
        <p:nvSpPr>
          <p:cNvPr id="28" name="Agenda 28"/>
          <p:cNvSpPr/>
          <p:nvPr/>
        </p:nvSpPr>
        <p:spPr>
          <a:xfrm>
            <a:off x="3195000" y="331200"/>
            <a:ext cx="2439000" cy="21600"/>
          </a:xfrm>
          <a:prstGeom prst="rect">
            <a:avLst/>
          </a:prstGeom>
          <a:solidFill>
            <a:srgbClr val="E2E2E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9" name="Agenda 29"/>
          <p:cNvSpPr txBox="1"/>
          <p:nvPr/>
        </p:nvSpPr>
        <p:spPr>
          <a:xfrm>
            <a:off x="5742000" y="136800"/>
            <a:ext cx="2439000" cy="1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spc="100" dirty="0">
                <a:solidFill>
                  <a:srgbClr val="9A9A9A"/>
                </a:solidFill>
                <a:latin typeface="Calibri"/>
                <a:ea typeface="Calibri"/>
                <a:cs typeface="Calibri"/>
              </a:rPr>
              <a:t>03  </a:t>
            </a:r>
            <a:r>
              <a:rPr lang="en-US" sz="850" spc="100" dirty="0">
                <a:solidFill>
                  <a:srgbClr val="9A9A9A"/>
                </a:solidFill>
                <a:latin typeface="Calibri"/>
                <a:ea typeface="Calibri"/>
                <a:cs typeface="Calibri"/>
              </a:rPr>
              <a:t>OKF PRODUCT DOCUMENTATION</a:t>
            </a:r>
          </a:p>
        </p:txBody>
      </p:sp>
      <p:sp>
        <p:nvSpPr>
          <p:cNvPr id="30" name="Agenda 30"/>
          <p:cNvSpPr/>
          <p:nvPr/>
        </p:nvSpPr>
        <p:spPr>
          <a:xfrm>
            <a:off x="5742000" y="331200"/>
            <a:ext cx="2439000" cy="21600"/>
          </a:xfrm>
          <a:prstGeom prst="rect">
            <a:avLst/>
          </a:prstGeom>
          <a:solidFill>
            <a:srgbClr val="E2E2E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1" name="Agenda 31"/>
          <p:cNvSpPr txBox="1"/>
          <p:nvPr/>
        </p:nvSpPr>
        <p:spPr>
          <a:xfrm>
            <a:off x="8289000" y="136800"/>
            <a:ext cx="2439000" cy="1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spc="100" dirty="0">
                <a:solidFill>
                  <a:srgbClr val="C1121F"/>
                </a:solidFill>
                <a:latin typeface="Calibri"/>
                <a:ea typeface="Calibri"/>
                <a:cs typeface="Calibri"/>
              </a:rPr>
              <a:t>04  CONCLUSION</a:t>
            </a:r>
          </a:p>
        </p:txBody>
      </p:sp>
      <p:sp>
        <p:nvSpPr>
          <p:cNvPr id="32" name="Agenda 32"/>
          <p:cNvSpPr/>
          <p:nvPr/>
        </p:nvSpPr>
        <p:spPr>
          <a:xfrm>
            <a:off x="8289000" y="331200"/>
            <a:ext cx="2439000" cy="43200"/>
          </a:xfrm>
          <a:prstGeom prst="rect">
            <a:avLst/>
          </a:prstGeom>
          <a:solidFill>
            <a:srgbClr val="C1121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881360" y="-1280160"/>
            <a:ext cx="3108960" cy="3108960"/>
          </a:xfrm>
          <a:prstGeom prst="ellipse">
            <a:avLst/>
          </a:prstGeom>
          <a:solidFill>
            <a:srgbClr val="8B0D14"/>
          </a:solidFill>
          <a:ln w="12700">
            <a:solidFill>
              <a:srgbClr val="8B0D1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822960" y="45720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case for OKF product documentation</a:t>
            </a:r>
            <a:endParaRPr lang="en-US" sz="33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1170432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A8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product documentation is the highest-value bundle we could build — and the one no vendor can build for us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822960" y="1781999"/>
            <a:ext cx="347472" cy="347472"/>
          </a:xfrm>
          <a:prstGeom prst="ellipse">
            <a:avLst/>
          </a:prstGeom>
          <a:solidFill>
            <a:srgbClr val="C1121F"/>
          </a:solidFill>
          <a:ln w="12700">
            <a:solidFill>
              <a:srgbClr val="C1121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822960" y="1781999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1325880" y="1745999"/>
            <a:ext cx="3383280" cy="43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material already exists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4937760" y="1710000"/>
            <a:ext cx="6400800" cy="57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BDBD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decisions, API contracts, process rules, release notes, runbooks. As a bundle they become an artifact the team owns, reviews and versions.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822960" y="2437200"/>
            <a:ext cx="347472" cy="347472"/>
          </a:xfrm>
          <a:prstGeom prst="ellipse">
            <a:avLst/>
          </a:prstGeom>
          <a:solidFill>
            <a:srgbClr val="C1121F"/>
          </a:solidFill>
          <a:ln w="12700">
            <a:solidFill>
              <a:srgbClr val="C1121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822960" y="243720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1325880" y="2401200"/>
            <a:ext cx="3383280" cy="43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source for every reader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4937760" y="2365200"/>
            <a:ext cx="6400800" cy="57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BDBD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Developers, support and any agent read the same files. It versions with releases and ships as-is — no per-tool integration, no lock-in.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22960" y="3092400"/>
            <a:ext cx="347472" cy="347472"/>
          </a:xfrm>
          <a:prstGeom prst="ellipse">
            <a:avLst/>
          </a:prstGeom>
          <a:solidFill>
            <a:srgbClr val="C1121F"/>
          </a:solidFill>
          <a:ln w="12700">
            <a:solidFill>
              <a:srgbClr val="C1121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 txBox="1"/>
          <p:nvPr/>
        </p:nvSpPr>
        <p:spPr>
          <a:xfrm>
            <a:off x="822960" y="309240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1325880" y="3056400"/>
            <a:ext cx="3383280" cy="43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compounds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4937760" y="3020400"/>
            <a:ext cx="6400800" cy="57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BDBD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change request and every good answer improves the base, instead of evaporating with the session.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822960" y="3747599"/>
            <a:ext cx="347472" cy="347472"/>
          </a:xfrm>
          <a:prstGeom prst="ellipse">
            <a:avLst/>
          </a:prstGeom>
          <a:solidFill>
            <a:srgbClr val="C1121F"/>
          </a:solidFill>
          <a:ln w="12700">
            <a:solidFill>
              <a:srgbClr val="C1121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 txBox="1"/>
          <p:nvPr/>
        </p:nvSpPr>
        <p:spPr>
          <a:xfrm>
            <a:off x="822960" y="3747599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1325880" y="3711599"/>
            <a:ext cx="3383280" cy="43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becomes machine-readable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4937760" y="3675599"/>
            <a:ext cx="6400800" cy="57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BDBD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status, stale_after and verified say who checked a page and whether it is still true — a linter in CI flags it, an agent can gate on it.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822960" y="4402799"/>
            <a:ext cx="347472" cy="347472"/>
          </a:xfrm>
          <a:prstGeom prst="ellipse">
            <a:avLst/>
          </a:prstGeom>
          <a:solidFill>
            <a:srgbClr val="C1121F"/>
          </a:solidFill>
          <a:ln w="12700">
            <a:solidFill>
              <a:srgbClr val="C1121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 txBox="1"/>
          <p:nvPr/>
        </p:nvSpPr>
        <p:spPr>
          <a:xfrm>
            <a:off x="822960" y="4402799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1325880" y="4366800"/>
            <a:ext cx="3383280" cy="43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 become a design gate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4937760" y="4330800"/>
            <a:ext cx="6400800" cy="57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BDBD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change request checks a proposed feature against the documented design, so documentation shapes the next release instead of describing the last one.</a:t>
            </a:r>
            <a:endParaRPr lang="en-US" sz="1250" dirty="0"/>
          </a:p>
        </p:txBody>
      </p:sp>
      <p:sp>
        <p:nvSpPr>
          <p:cNvPr id="35" name="Shape 19"/>
          <p:cNvSpPr/>
          <p:nvPr/>
        </p:nvSpPr>
        <p:spPr>
          <a:xfrm>
            <a:off x="822960" y="5058000"/>
            <a:ext cx="347472" cy="347472"/>
          </a:xfrm>
          <a:prstGeom prst="ellipse">
            <a:avLst/>
          </a:prstGeom>
          <a:solidFill>
            <a:srgbClr val="C1121F"/>
          </a:solidFill>
          <a:ln w="12700">
            <a:solidFill>
              <a:srgbClr val="C1121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20"/>
          <p:cNvSpPr txBox="1"/>
          <p:nvPr/>
        </p:nvSpPr>
        <p:spPr>
          <a:xfrm>
            <a:off x="822960" y="505800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37" name="Text 21"/>
          <p:cNvSpPr txBox="1"/>
          <p:nvPr/>
        </p:nvSpPr>
        <p:spPr>
          <a:xfrm>
            <a:off x="1325880" y="5022000"/>
            <a:ext cx="3383280" cy="43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cost curve inverts</a:t>
            </a:r>
            <a:endParaRPr lang="en-US" sz="1500" dirty="0"/>
          </a:p>
        </p:txBody>
      </p:sp>
      <p:sp>
        <p:nvSpPr>
          <p:cNvPr id="38" name="Text 22"/>
          <p:cNvSpPr txBox="1"/>
          <p:nvPr/>
        </p:nvSpPr>
        <p:spPr>
          <a:xfrm>
            <a:off x="4937760" y="4986000"/>
            <a:ext cx="6400800" cy="57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BDBD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Frontier-model spend moves to writing the pages, once per change. Reading them — the volume side — gets smaller and cheaper.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822960" y="5760000"/>
            <a:ext cx="10515600" cy="566928"/>
          </a:xfrm>
          <a:prstGeom prst="roundRect">
            <a:avLst>
              <a:gd name="adj" fmla="val 12903"/>
            </a:avLst>
          </a:prstGeom>
          <a:solidFill>
            <a:srgbClr val="C1121F"/>
          </a:solidFill>
          <a:ln w="12700">
            <a:solidFill>
              <a:srgbClr val="C1121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 txBox="1"/>
          <p:nvPr/>
        </p:nvSpPr>
        <p:spPr>
          <a:xfrm>
            <a:off x="1143000" y="5760000"/>
            <a:ext cx="9875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Proposal: 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one bounded product area, compile it into an OKF bundle, put it in the repo, require PR review. Two weeks — not a platform programme.</a:t>
            </a:r>
            <a:endParaRPr lang="en-US" sz="1300" dirty="0"/>
          </a:p>
        </p:txBody>
      </p:sp>
      <p:sp>
        <p:nvSpPr>
          <p:cNvPr id="27" name="Agenda 27"/>
          <p:cNvSpPr txBox="1"/>
          <p:nvPr/>
        </p:nvSpPr>
        <p:spPr>
          <a:xfrm>
            <a:off x="648000" y="136800"/>
            <a:ext cx="2439000" cy="1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spc="100" dirty="0">
                <a:solidFill>
                  <a:srgbClr val="8A8A8A"/>
                </a:solidFill>
                <a:latin typeface="Calibri"/>
                <a:ea typeface="Calibri"/>
                <a:cs typeface="Calibri"/>
              </a:rPr>
              <a:t>01  </a:t>
            </a:r>
            <a:r>
              <a:rPr lang="en-US" sz="850" spc="100" dirty="0">
                <a:solidFill>
                  <a:srgbClr val="8A8A8A"/>
                </a:solidFill>
                <a:latin typeface="Calibri"/>
                <a:ea typeface="Calibri"/>
                <a:cs typeface="Calibri"/>
              </a:rPr>
              <a:t>CONTEXT ENGINEERING</a:t>
            </a:r>
          </a:p>
        </p:txBody>
      </p:sp>
      <p:sp>
        <p:nvSpPr>
          <p:cNvPr id="28" name="Agenda 28"/>
          <p:cNvSpPr/>
          <p:nvPr/>
        </p:nvSpPr>
        <p:spPr>
          <a:xfrm>
            <a:off x="648000" y="331200"/>
            <a:ext cx="2439000" cy="21600"/>
          </a:xfrm>
          <a:prstGeom prst="rect">
            <a:avLst/>
          </a:prstGeom>
          <a:solidFill>
            <a:srgbClr val="3A3A3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9" name="Agenda 29"/>
          <p:cNvSpPr txBox="1"/>
          <p:nvPr/>
        </p:nvSpPr>
        <p:spPr>
          <a:xfrm>
            <a:off x="3195000" y="136800"/>
            <a:ext cx="2439000" cy="1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spc="100" dirty="0">
                <a:solidFill>
                  <a:srgbClr val="8A8A8A"/>
                </a:solidFill>
                <a:latin typeface="Calibri"/>
                <a:ea typeface="Calibri"/>
                <a:cs typeface="Calibri"/>
              </a:rPr>
              <a:t>02  </a:t>
            </a:r>
            <a:r>
              <a:rPr lang="en-US" sz="850" spc="100" dirty="0">
                <a:solidFill>
                  <a:srgbClr val="8A8A8A"/>
                </a:solidFill>
                <a:latin typeface="Calibri"/>
                <a:ea typeface="Calibri"/>
                <a:cs typeface="Calibri"/>
              </a:rPr>
              <a:t>LLM WIKI</a:t>
            </a:r>
          </a:p>
        </p:txBody>
      </p:sp>
      <p:sp>
        <p:nvSpPr>
          <p:cNvPr id="30" name="Agenda 30"/>
          <p:cNvSpPr/>
          <p:nvPr/>
        </p:nvSpPr>
        <p:spPr>
          <a:xfrm>
            <a:off x="3195000" y="331200"/>
            <a:ext cx="2439000" cy="21600"/>
          </a:xfrm>
          <a:prstGeom prst="rect">
            <a:avLst/>
          </a:prstGeom>
          <a:solidFill>
            <a:srgbClr val="3A3A3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1" name="Agenda 31"/>
          <p:cNvSpPr txBox="1"/>
          <p:nvPr/>
        </p:nvSpPr>
        <p:spPr>
          <a:xfrm>
            <a:off x="5742000" y="136800"/>
            <a:ext cx="2439000" cy="1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spc="100" dirty="0">
                <a:solidFill>
                  <a:srgbClr val="8A8A8A"/>
                </a:solidFill>
                <a:latin typeface="Calibri"/>
                <a:ea typeface="Calibri"/>
                <a:cs typeface="Calibri"/>
              </a:rPr>
              <a:t>03  </a:t>
            </a:r>
            <a:r>
              <a:rPr lang="en-US" sz="850" spc="100" dirty="0">
                <a:solidFill>
                  <a:srgbClr val="8A8A8A"/>
                </a:solidFill>
                <a:latin typeface="Calibri"/>
                <a:ea typeface="Calibri"/>
                <a:cs typeface="Calibri"/>
              </a:rPr>
              <a:t>OKF PRODUCT DOCUMENTATION</a:t>
            </a:r>
          </a:p>
        </p:txBody>
      </p:sp>
      <p:sp>
        <p:nvSpPr>
          <p:cNvPr id="32" name="Agenda 32"/>
          <p:cNvSpPr/>
          <p:nvPr/>
        </p:nvSpPr>
        <p:spPr>
          <a:xfrm>
            <a:off x="5742000" y="331200"/>
            <a:ext cx="2439000" cy="21600"/>
          </a:xfrm>
          <a:prstGeom prst="rect">
            <a:avLst/>
          </a:prstGeom>
          <a:solidFill>
            <a:srgbClr val="3A3A3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3" name="Agenda 33"/>
          <p:cNvSpPr txBox="1"/>
          <p:nvPr/>
        </p:nvSpPr>
        <p:spPr>
          <a:xfrm>
            <a:off x="8289000" y="136800"/>
            <a:ext cx="2439000" cy="1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spc="100" dirty="0">
                <a:solidFill>
                  <a:srgbClr val="FF6B6B"/>
                </a:solidFill>
                <a:latin typeface="Calibri"/>
                <a:ea typeface="Calibri"/>
                <a:cs typeface="Calibri"/>
              </a:rPr>
              <a:t>04  CONCLUSION</a:t>
            </a:r>
          </a:p>
        </p:txBody>
      </p:sp>
      <p:sp>
        <p:nvSpPr>
          <p:cNvPr id="34" name="Agenda 34"/>
          <p:cNvSpPr/>
          <p:nvPr/>
        </p:nvSpPr>
        <p:spPr>
          <a:xfrm>
            <a:off x="8289000" y="331200"/>
            <a:ext cx="2439000" cy="43200"/>
          </a:xfrm>
          <a:prstGeom prst="rect">
            <a:avLst/>
          </a:prstGeom>
          <a:solidFill>
            <a:srgbClr val="C1121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19"/>
          <p:cNvSpPr txBox="1"/>
          <p:nvPr/>
        </p:nvSpPr>
        <p:spPr>
          <a:xfrm>
            <a:off x="822960" y="6443999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Spec: github.com/GoogleCloudPlatform/knowledge-catalog/blob/main/okf/SPEC.md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3605</Words>
  <Application>Microsoft Macintosh PowerPoint</Application>
  <PresentationFormat>Widescreen</PresentationFormat>
  <Paragraphs>381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Marcel Ronner</cp:lastModifiedBy>
  <cp:revision>1</cp:revision>
  <dcterms:created xsi:type="dcterms:W3CDTF">2026-09-11T06:07:33Z</dcterms:created>
  <dcterms:modified xsi:type="dcterms:W3CDTF">2026-09-13T20:06:37Z</dcterms:modified>
</cp:coreProperties>
</file>